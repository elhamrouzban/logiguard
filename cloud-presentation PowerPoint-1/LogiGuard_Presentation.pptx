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charts/chart4.xml" ContentType="application/vnd.openxmlformats-officedocument.drawingml.chart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.xml.rels" ContentType="application/vnd.openxmlformats-package.relationships+xml"/>
  <Override PartName="/ppt/slides/_rels/slide9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_rels/presentation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Missed late orders</c:v>
                </c:pt>
              </c:strCache>
            </c:strRef>
          </c:tx>
          <c:spPr>
            <a:solidFill>
              <a:srgbClr val="2a78d6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1" sz="1300" spc="-1" strike="noStrike">
                    <a:solidFill>
                      <a:srgbClr val="141414"/>
                    </a:solidFill>
                    <a:latin typeface="Calibri"/>
                    <a:ea typeface="DejaVu San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Threshold 0.50</c:v>
                </c:pt>
                <c:pt idx="1">
                  <c:v>Threshold 0.40 (selected)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2194</c:v>
                </c:pt>
                <c:pt idx="1">
                  <c:v>1269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False alarms</c:v>
                </c:pt>
              </c:strCache>
            </c:strRef>
          </c:tx>
          <c:spPr>
            <a:solidFill>
              <a:srgbClr val="eb6834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1" sz="1300" spc="-1" strike="noStrike">
                    <a:solidFill>
                      <a:srgbClr val="141414"/>
                    </a:solidFill>
                    <a:latin typeface="Calibri"/>
                    <a:ea typeface="DejaVu San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Threshold 0.50</c:v>
                </c:pt>
                <c:pt idx="1">
                  <c:v>Threshold 0.40 (selected)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2"/>
                <c:pt idx="0">
                  <c:v>587</c:v>
                </c:pt>
                <c:pt idx="1">
                  <c:v>1920</c:v>
                </c:pt>
              </c:numCache>
            </c:numRef>
          </c:val>
        </c:ser>
        <c:gapWidth val="70"/>
        <c:overlap val="-8"/>
        <c:axId val="85313737"/>
        <c:axId val="27357881"/>
      </c:barChart>
      <c:catAx>
        <c:axId val="85313737"/>
        <c:scaling>
          <c:orientation val="minMax"/>
        </c:scaling>
        <c:delete val="0"/>
        <c:axPos val="b"/>
        <c:numFmt formatCode="[$-409]mm/dd/yyyy" sourceLinked="0"/>
        <c:majorTickMark val="out"/>
        <c:minorTickMark val="none"/>
        <c:tickLblPos val="nextTo"/>
        <c:spPr>
          <a:ln w="9360">
            <a:solidFill>
              <a:srgbClr val="d9dce1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555a64"/>
                </a:solidFill>
                <a:latin typeface="Calibri"/>
                <a:ea typeface="DejaVu Sans"/>
              </a:defRPr>
            </a:pPr>
          </a:p>
        </c:txPr>
        <c:crossAx val="27357881"/>
        <c:crosses val="autoZero"/>
        <c:auto val="1"/>
        <c:lblAlgn val="ctr"/>
        <c:lblOffset val="100"/>
        <c:noMultiLvlLbl val="0"/>
      </c:catAx>
      <c:valAx>
        <c:axId val="27357881"/>
        <c:scaling>
          <c:orientation val="minMax"/>
          <c:max val="2500"/>
        </c:scaling>
        <c:delete val="0"/>
        <c:axPos val="l"/>
        <c:majorGridlines>
          <c:spPr>
            <a:ln w="9360">
              <a:solidFill>
                <a:srgbClr val="d9dce1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noFill/>
          </a:ln>
        </c:spPr>
        <c:txPr>
          <a:bodyPr/>
          <a:lstStyle/>
          <a:p>
            <a:pPr>
              <a:defRPr b="0" sz="1100" spc="-1" strike="noStrike">
                <a:solidFill>
                  <a:srgbClr val="8a8f98"/>
                </a:solidFill>
                <a:latin typeface="Calibri"/>
                <a:ea typeface="DejaVu Sans"/>
              </a:defRPr>
            </a:pPr>
          </a:p>
        </c:txPr>
        <c:crossAx val="85313737"/>
        <c:crosses val="autoZero"/>
        <c:crossBetween val="between"/>
      </c:valAx>
      <c:spPr>
        <a:noFill/>
        <a:ln w="0">
          <a:noFill/>
        </a:ln>
      </c:spPr>
    </c:plotArea>
    <c:legend>
      <c:legendPos val="t"/>
      <c:overlay val="0"/>
      <c:spPr>
        <a:noFill/>
        <a:ln w="0">
          <a:noFill/>
        </a:ln>
      </c:spPr>
      <c:txPr>
        <a:bodyPr/>
        <a:lstStyle/>
        <a:p>
          <a:pPr>
            <a:defRPr b="0" sz="1200" spc="-1" strike="noStrike">
              <a:solidFill>
                <a:srgbClr val="555a64"/>
              </a:solidFill>
              <a:latin typeface="Calibri"/>
              <a:ea typeface="DejaVu Sans"/>
            </a:defRPr>
          </a:pPr>
        </a:p>
      </c:txPr>
    </c:legend>
    <c:plotVisOnly val="1"/>
    <c:dispBlanksAs val="gap"/>
  </c:chart>
  <c:spPr>
    <a:noFill/>
    <a:ln w="9360">
      <a:solidFill>
        <a:srgbClr val="d9d9d9"/>
      </a:solidFill>
      <a:round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EC5DE2-F742-4CA4-99E9-525611F6C9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DBAADE4-D672-42A9-978F-A7579312D9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6F91B4D-6FD9-41B7-84B6-0A042B0599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7A3C9BA-E7BA-47F1-BCF2-491CADBD65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7A0507D-B641-472D-880F-BB48F70317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F24F88-26D6-425A-8237-C031FFC6D0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170962-DA11-4288-BA20-CB15D05295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71EAB73-1CCE-43A7-A237-4BAD5612CC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F447F57-74C3-48FD-B9C9-A790C893C8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D0B5026-2D24-4534-B564-BA41A8D90B1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FE1B3BD-ED82-4122-BF0A-037BB2643DA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CDE5D71-1988-47E7-82CC-C08E4334691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E319B27-E4AA-4E8E-93EA-3FE3D0073D58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Rectangle 2"/>
          <p:cNvSpPr/>
          <p:nvPr/>
        </p:nvSpPr>
        <p:spPr>
          <a:xfrm>
            <a:off x="8351280" y="0"/>
            <a:ext cx="3839760" cy="6857280"/>
          </a:xfrm>
          <a:prstGeom prst="rect">
            <a:avLst/>
          </a:prstGeom>
          <a:solidFill>
            <a:srgbClr val="1b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" name="Rectangle 3"/>
          <p:cNvSpPr/>
          <p:nvPr/>
        </p:nvSpPr>
        <p:spPr>
          <a:xfrm>
            <a:off x="822960" y="1417320"/>
            <a:ext cx="822240" cy="7236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" name="TextBox 4"/>
          <p:cNvSpPr/>
          <p:nvPr/>
        </p:nvSpPr>
        <p:spPr>
          <a:xfrm>
            <a:off x="822960" y="1600200"/>
            <a:ext cx="7771680" cy="101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6400" spc="-1" strike="noStrike">
                <a:solidFill>
                  <a:srgbClr val="ffffff"/>
                </a:solidFill>
                <a:latin typeface="Calibri"/>
                <a:ea typeface="DejaVu Sans"/>
              </a:rPr>
              <a:t>LogiGuard AI</a:t>
            </a:r>
            <a:endParaRPr b="0" lang="en-US" sz="6400" spc="-1" strike="noStrike"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822960" y="2697480"/>
            <a:ext cx="749736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bfd3ee"/>
                </a:solidFill>
                <a:latin typeface="Calibri"/>
                <a:ea typeface="DejaVu Sans"/>
              </a:rPr>
              <a:t>Predicting late-delivery risk and helping logistics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bfd3ee"/>
                </a:solidFill>
                <a:latin typeface="Calibri"/>
                <a:ea typeface="DejaVu Sans"/>
              </a:rPr>
              <a:t>operators prioritize shipment exceptions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6" name="TextBox 6"/>
          <p:cNvSpPr/>
          <p:nvPr/>
        </p:nvSpPr>
        <p:spPr>
          <a:xfrm>
            <a:off x="822960" y="5074920"/>
            <a:ext cx="731448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DejaVu Sans"/>
              </a:rPr>
              <a:t>Elham Rouzban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7" name="TextBox 7"/>
          <p:cNvSpPr/>
          <p:nvPr/>
        </p:nvSpPr>
        <p:spPr>
          <a:xfrm>
            <a:off x="822960" y="5440680"/>
            <a:ext cx="731448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bfd3ee"/>
                </a:solidFill>
                <a:latin typeface="Calibri"/>
                <a:ea typeface="DejaVu Sans"/>
              </a:rPr>
              <a:t>AI Engineering  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8" name="Rounded Rectangle 8"/>
          <p:cNvSpPr/>
          <p:nvPr/>
        </p:nvSpPr>
        <p:spPr>
          <a:xfrm>
            <a:off x="8991360" y="1325880"/>
            <a:ext cx="2559600" cy="456480"/>
          </a:xfrm>
          <a:prstGeom prst="roundRect">
            <a:avLst>
              <a:gd name="adj" fmla="val 50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" name="TextBox 9"/>
          <p:cNvSpPr/>
          <p:nvPr/>
        </p:nvSpPr>
        <p:spPr>
          <a:xfrm>
            <a:off x="8991360" y="1429560"/>
            <a:ext cx="255960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Machine Learning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0" name="Rounded Rectangle 10"/>
          <p:cNvSpPr/>
          <p:nvPr/>
        </p:nvSpPr>
        <p:spPr>
          <a:xfrm>
            <a:off x="8991360" y="1947600"/>
            <a:ext cx="2559600" cy="456480"/>
          </a:xfrm>
          <a:prstGeom prst="roundRect">
            <a:avLst>
              <a:gd name="adj" fmla="val 50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" name="TextBox 11"/>
          <p:cNvSpPr/>
          <p:nvPr/>
        </p:nvSpPr>
        <p:spPr>
          <a:xfrm>
            <a:off x="8991360" y="2051280"/>
            <a:ext cx="255960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FastAPI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2" name="Rounded Rectangle 12"/>
          <p:cNvSpPr/>
          <p:nvPr/>
        </p:nvSpPr>
        <p:spPr>
          <a:xfrm>
            <a:off x="8991360" y="2569320"/>
            <a:ext cx="2559600" cy="456480"/>
          </a:xfrm>
          <a:prstGeom prst="roundRect">
            <a:avLst>
              <a:gd name="adj" fmla="val 50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" name="TextBox 13"/>
          <p:cNvSpPr/>
          <p:nvPr/>
        </p:nvSpPr>
        <p:spPr>
          <a:xfrm>
            <a:off x="8991360" y="2673000"/>
            <a:ext cx="255960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PostgreSQL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4" name="Rounded Rectangle 14"/>
          <p:cNvSpPr/>
          <p:nvPr/>
        </p:nvSpPr>
        <p:spPr>
          <a:xfrm>
            <a:off x="8991360" y="3191400"/>
            <a:ext cx="2559600" cy="456480"/>
          </a:xfrm>
          <a:prstGeom prst="roundRect">
            <a:avLst>
              <a:gd name="adj" fmla="val 50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" name="TextBox 15"/>
          <p:cNvSpPr/>
          <p:nvPr/>
        </p:nvSpPr>
        <p:spPr>
          <a:xfrm>
            <a:off x="8991360" y="3295080"/>
            <a:ext cx="255960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Streamlit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6" name="Rounded Rectangle 16"/>
          <p:cNvSpPr/>
          <p:nvPr/>
        </p:nvSpPr>
        <p:spPr>
          <a:xfrm>
            <a:off x="8991360" y="3813120"/>
            <a:ext cx="2559600" cy="456480"/>
          </a:xfrm>
          <a:prstGeom prst="roundRect">
            <a:avLst>
              <a:gd name="adj" fmla="val 50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" name="TextBox 17"/>
          <p:cNvSpPr/>
          <p:nvPr/>
        </p:nvSpPr>
        <p:spPr>
          <a:xfrm>
            <a:off x="8991360" y="3916800"/>
            <a:ext cx="255960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AI Copilot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8" name="Rounded Rectangle 18"/>
          <p:cNvSpPr/>
          <p:nvPr/>
        </p:nvSpPr>
        <p:spPr>
          <a:xfrm>
            <a:off x="8991360" y="4434840"/>
            <a:ext cx="2559600" cy="456480"/>
          </a:xfrm>
          <a:prstGeom prst="roundRect">
            <a:avLst>
              <a:gd name="adj" fmla="val 50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TextBox 19"/>
          <p:cNvSpPr/>
          <p:nvPr/>
        </p:nvSpPr>
        <p:spPr>
          <a:xfrm>
            <a:off x="8991360" y="4538520"/>
            <a:ext cx="255960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Docker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0" name="Rounded Rectangle 20"/>
          <p:cNvSpPr/>
          <p:nvPr/>
        </p:nvSpPr>
        <p:spPr>
          <a:xfrm>
            <a:off x="8991360" y="5056560"/>
            <a:ext cx="2559600" cy="456480"/>
          </a:xfrm>
          <a:prstGeom prst="roundRect">
            <a:avLst>
              <a:gd name="adj" fmla="val 50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" name="TextBox 21"/>
          <p:cNvSpPr/>
          <p:nvPr/>
        </p:nvSpPr>
        <p:spPr>
          <a:xfrm>
            <a:off x="8991360" y="5160240"/>
            <a:ext cx="255960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MLOps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"/>
          <p:cNvSpPr/>
          <p:nvPr/>
        </p:nvSpPr>
        <p:spPr>
          <a:xfrm>
            <a:off x="54864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a78d6"/>
                </a:solidFill>
                <a:latin typeface="Calibri"/>
                <a:ea typeface="DejaVu Sans"/>
              </a:rPr>
              <a:t>PROBLEM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3" name="Rectangle 2"/>
          <p:cNvSpPr/>
          <p:nvPr/>
        </p:nvSpPr>
        <p:spPr>
          <a:xfrm>
            <a:off x="594360" y="530280"/>
            <a:ext cx="856800" cy="4500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" name="TextBox 3"/>
          <p:cNvSpPr/>
          <p:nvPr/>
        </p:nvSpPr>
        <p:spPr>
          <a:xfrm>
            <a:off x="1634760" y="255960"/>
            <a:ext cx="7048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DATA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5" name="Rectangle 4"/>
          <p:cNvSpPr/>
          <p:nvPr/>
        </p:nvSpPr>
        <p:spPr>
          <a:xfrm>
            <a:off x="1680480" y="530280"/>
            <a:ext cx="56772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" name="TextBox 5"/>
          <p:cNvSpPr/>
          <p:nvPr/>
        </p:nvSpPr>
        <p:spPr>
          <a:xfrm>
            <a:off x="2431800" y="255960"/>
            <a:ext cx="801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MODEL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7" name="Rectangle 6"/>
          <p:cNvSpPr/>
          <p:nvPr/>
        </p:nvSpPr>
        <p:spPr>
          <a:xfrm>
            <a:off x="2477520" y="530280"/>
            <a:ext cx="6642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" name="TextBox 7"/>
          <p:cNvSpPr/>
          <p:nvPr/>
        </p:nvSpPr>
        <p:spPr>
          <a:xfrm>
            <a:off x="3324960" y="255960"/>
            <a:ext cx="8974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SYSTEM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9" name="Rectangle 8"/>
          <p:cNvSpPr/>
          <p:nvPr/>
        </p:nvSpPr>
        <p:spPr>
          <a:xfrm>
            <a:off x="3370680" y="530280"/>
            <a:ext cx="76032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0" name="TextBox 9"/>
          <p:cNvSpPr/>
          <p:nvPr/>
        </p:nvSpPr>
        <p:spPr>
          <a:xfrm>
            <a:off x="431496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COPILOT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1" name="Rectangle 10"/>
          <p:cNvSpPr/>
          <p:nvPr/>
        </p:nvSpPr>
        <p:spPr>
          <a:xfrm>
            <a:off x="436068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2" name="TextBox 11"/>
          <p:cNvSpPr/>
          <p:nvPr/>
        </p:nvSpPr>
        <p:spPr>
          <a:xfrm>
            <a:off x="5401080" y="255960"/>
            <a:ext cx="801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MLOPS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3" name="Rectangle 12"/>
          <p:cNvSpPr/>
          <p:nvPr/>
        </p:nvSpPr>
        <p:spPr>
          <a:xfrm>
            <a:off x="5446800" y="530280"/>
            <a:ext cx="6642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TextBox 13"/>
          <p:cNvSpPr/>
          <p:nvPr/>
        </p:nvSpPr>
        <p:spPr>
          <a:xfrm>
            <a:off x="629424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OUTLOOK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5" name="Rectangle 14"/>
          <p:cNvSpPr/>
          <p:nvPr/>
        </p:nvSpPr>
        <p:spPr>
          <a:xfrm>
            <a:off x="633996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" name="TextBox 15"/>
          <p:cNvSpPr/>
          <p:nvPr/>
        </p:nvSpPr>
        <p:spPr>
          <a:xfrm>
            <a:off x="548640" y="809280"/>
            <a:ext cx="1106352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0f233f"/>
                </a:solidFill>
                <a:latin typeface="Calibri"/>
                <a:ea typeface="DejaVu Sans"/>
              </a:rPr>
              <a:t>The business problem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7" name="Rounded Rectangle 16"/>
          <p:cNvSpPr/>
          <p:nvPr/>
        </p:nvSpPr>
        <p:spPr>
          <a:xfrm>
            <a:off x="548640" y="5870520"/>
            <a:ext cx="11093760" cy="547920"/>
          </a:xfrm>
          <a:prstGeom prst="roundRect">
            <a:avLst>
              <a:gd name="adj" fmla="val 15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8" name="Rectangle 17"/>
          <p:cNvSpPr/>
          <p:nvPr/>
        </p:nvSpPr>
        <p:spPr>
          <a:xfrm>
            <a:off x="548640" y="5870520"/>
            <a:ext cx="109080" cy="54792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9" name="TextBox 18"/>
          <p:cNvSpPr/>
          <p:nvPr/>
        </p:nvSpPr>
        <p:spPr>
          <a:xfrm>
            <a:off x="868680" y="6012360"/>
            <a:ext cx="105451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Operators need to know which shipments to check first, before the delay happens.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0" name="TextBox 19"/>
          <p:cNvSpPr/>
          <p:nvPr/>
        </p:nvSpPr>
        <p:spPr>
          <a:xfrm>
            <a:off x="548640" y="6473880"/>
            <a:ext cx="36568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LogiGuard AI  |  Elham Rouzban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1" name="TextBox 20"/>
          <p:cNvSpPr/>
          <p:nvPr/>
        </p:nvSpPr>
        <p:spPr>
          <a:xfrm>
            <a:off x="10728720" y="6473880"/>
            <a:ext cx="9136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2" name="Rounded Rectangle 21"/>
          <p:cNvSpPr/>
          <p:nvPr/>
        </p:nvSpPr>
        <p:spPr>
          <a:xfrm>
            <a:off x="548640" y="1600200"/>
            <a:ext cx="6674400" cy="159948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3" name="TextBox 22"/>
          <p:cNvSpPr/>
          <p:nvPr/>
        </p:nvSpPr>
        <p:spPr>
          <a:xfrm>
            <a:off x="731520" y="1645920"/>
            <a:ext cx="5479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6000" spc="-1" strike="noStrike">
                <a:solidFill>
                  <a:srgbClr val="2a78d6"/>
                </a:solidFill>
                <a:latin typeface="Calibri"/>
                <a:ea typeface="DejaVu Sans"/>
              </a:rPr>
              <a:t>“</a:t>
            </a:r>
            <a:endParaRPr b="0" lang="en-US" sz="6000" spc="-1" strike="noStrike">
              <a:latin typeface="Arial"/>
            </a:endParaRPr>
          </a:p>
        </p:txBody>
      </p:sp>
      <p:sp>
        <p:nvSpPr>
          <p:cNvPr id="84" name="TextBox 23"/>
          <p:cNvSpPr/>
          <p:nvPr/>
        </p:nvSpPr>
        <p:spPr>
          <a:xfrm>
            <a:off x="1371600" y="2065320"/>
            <a:ext cx="5714280" cy="7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f233f"/>
                </a:solidFill>
                <a:latin typeface="Calibri"/>
                <a:ea typeface="DejaVu Sans"/>
              </a:rPr>
              <a:t>Which shipments are most likely to be late, and which ones should I investigate first?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5" name="Rounded Rectangle 24"/>
          <p:cNvSpPr/>
          <p:nvPr/>
        </p:nvSpPr>
        <p:spPr>
          <a:xfrm>
            <a:off x="7498080" y="1600200"/>
            <a:ext cx="4159800" cy="15994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Rectangle 25"/>
          <p:cNvSpPr/>
          <p:nvPr/>
        </p:nvSpPr>
        <p:spPr>
          <a:xfrm>
            <a:off x="7498080" y="1764720"/>
            <a:ext cx="54000" cy="127044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7" name="TextBox 26"/>
          <p:cNvSpPr/>
          <p:nvPr/>
        </p:nvSpPr>
        <p:spPr>
          <a:xfrm>
            <a:off x="7726680" y="1737360"/>
            <a:ext cx="370260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0f233f"/>
                </a:solidFill>
                <a:latin typeface="Calibri"/>
                <a:ea typeface="DejaVu Sans"/>
              </a:rPr>
              <a:t>Who is the user?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88" name="TextBox 27"/>
          <p:cNvSpPr/>
          <p:nvPr/>
        </p:nvSpPr>
        <p:spPr>
          <a:xfrm>
            <a:off x="7726680" y="2167200"/>
            <a:ext cx="3702600" cy="54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555a64"/>
                </a:solidFill>
                <a:latin typeface="Calibri"/>
                <a:ea typeface="DejaVu Sans"/>
              </a:rPr>
              <a:t>Logistics operations coordinator,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555a64"/>
                </a:solidFill>
                <a:latin typeface="Calibri"/>
                <a:ea typeface="DejaVu Sans"/>
              </a:rPr>
              <a:t>dispatcher or freight analyst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9" name="Rounded Rectangle 28"/>
          <p:cNvSpPr/>
          <p:nvPr/>
        </p:nvSpPr>
        <p:spPr>
          <a:xfrm>
            <a:off x="548640" y="3520440"/>
            <a:ext cx="3611160" cy="2102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0" name="Oval 29"/>
          <p:cNvSpPr/>
          <p:nvPr/>
        </p:nvSpPr>
        <p:spPr>
          <a:xfrm>
            <a:off x="822960" y="3703320"/>
            <a:ext cx="547920" cy="547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1" name="TextBox 30"/>
          <p:cNvSpPr/>
          <p:nvPr/>
        </p:nvSpPr>
        <p:spPr>
          <a:xfrm>
            <a:off x="1508760" y="3826800"/>
            <a:ext cx="25138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f233f"/>
                </a:solidFill>
                <a:latin typeface="Calibri"/>
                <a:ea typeface="DejaVu Sans"/>
              </a:rPr>
              <a:t>Too many orders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TextBox 31"/>
          <p:cNvSpPr/>
          <p:nvPr/>
        </p:nvSpPr>
        <p:spPr>
          <a:xfrm>
            <a:off x="822960" y="4480560"/>
            <a:ext cx="310824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555a64"/>
                </a:solidFill>
                <a:latin typeface="Calibri"/>
                <a:ea typeface="DejaVu Sans"/>
              </a:rPr>
              <a:t>Many shipments at once; most are fine, some will be late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3" name="Rounded Rectangle 32"/>
          <p:cNvSpPr/>
          <p:nvPr/>
        </p:nvSpPr>
        <p:spPr>
          <a:xfrm>
            <a:off x="4297680" y="3520440"/>
            <a:ext cx="3611160" cy="2102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Oval 33"/>
          <p:cNvSpPr/>
          <p:nvPr/>
        </p:nvSpPr>
        <p:spPr>
          <a:xfrm>
            <a:off x="4572000" y="3703320"/>
            <a:ext cx="547920" cy="547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5" name="TextBox 34"/>
          <p:cNvSpPr/>
          <p:nvPr/>
        </p:nvSpPr>
        <p:spPr>
          <a:xfrm>
            <a:off x="5257800" y="3826800"/>
            <a:ext cx="25138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f233f"/>
                </a:solidFill>
                <a:latin typeface="Calibri"/>
                <a:ea typeface="DejaVu Sans"/>
              </a:rPr>
              <a:t>Manual &amp; reactive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6" name="TextBox 35"/>
          <p:cNvSpPr/>
          <p:nvPr/>
        </p:nvSpPr>
        <p:spPr>
          <a:xfrm>
            <a:off x="4572000" y="4480560"/>
            <a:ext cx="310824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555a64"/>
                </a:solidFill>
                <a:latin typeface="Calibri"/>
                <a:ea typeface="DejaVu Sans"/>
              </a:rPr>
              <a:t>Orders are checked by hand, often after the delay is visible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7" name="Rounded Rectangle 36"/>
          <p:cNvSpPr/>
          <p:nvPr/>
        </p:nvSpPr>
        <p:spPr>
          <a:xfrm>
            <a:off x="8046720" y="3520440"/>
            <a:ext cx="3611160" cy="2102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8" name="Oval 37"/>
          <p:cNvSpPr/>
          <p:nvPr/>
        </p:nvSpPr>
        <p:spPr>
          <a:xfrm>
            <a:off x="8321040" y="3703320"/>
            <a:ext cx="547920" cy="547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9" name="TextBox 38"/>
          <p:cNvSpPr/>
          <p:nvPr/>
        </p:nvSpPr>
        <p:spPr>
          <a:xfrm>
            <a:off x="9006840" y="3826800"/>
            <a:ext cx="25138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f233f"/>
                </a:solidFill>
                <a:latin typeface="Calibri"/>
                <a:ea typeface="DejaVu Sans"/>
              </a:rPr>
              <a:t>Scattered context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0" name="TextBox 39"/>
          <p:cNvSpPr/>
          <p:nvPr/>
        </p:nvSpPr>
        <p:spPr>
          <a:xfrm>
            <a:off x="8321040" y="4480560"/>
            <a:ext cx="310824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555a64"/>
                </a:solidFill>
                <a:latin typeface="Calibri"/>
                <a:ea typeface="DejaVu Sans"/>
              </a:rPr>
              <a:t>Time is lost collecting information from several places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54864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a78d6"/>
                </a:solidFill>
                <a:latin typeface="Calibri"/>
                <a:ea typeface="DejaVu Sans"/>
              </a:rPr>
              <a:t>PROBLEM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2" name="Rectangle 2"/>
          <p:cNvSpPr/>
          <p:nvPr/>
        </p:nvSpPr>
        <p:spPr>
          <a:xfrm>
            <a:off x="594360" y="530280"/>
            <a:ext cx="856800" cy="4500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TextBox 3"/>
          <p:cNvSpPr/>
          <p:nvPr/>
        </p:nvSpPr>
        <p:spPr>
          <a:xfrm>
            <a:off x="1634760" y="255960"/>
            <a:ext cx="7048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DATA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4" name="Rectangle 4"/>
          <p:cNvSpPr/>
          <p:nvPr/>
        </p:nvSpPr>
        <p:spPr>
          <a:xfrm>
            <a:off x="1680480" y="530280"/>
            <a:ext cx="56772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5" name="TextBox 5"/>
          <p:cNvSpPr/>
          <p:nvPr/>
        </p:nvSpPr>
        <p:spPr>
          <a:xfrm>
            <a:off x="2431800" y="255960"/>
            <a:ext cx="801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MODEL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6" name="Rectangle 6"/>
          <p:cNvSpPr/>
          <p:nvPr/>
        </p:nvSpPr>
        <p:spPr>
          <a:xfrm>
            <a:off x="2477520" y="530280"/>
            <a:ext cx="6642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7" name="TextBox 7"/>
          <p:cNvSpPr/>
          <p:nvPr/>
        </p:nvSpPr>
        <p:spPr>
          <a:xfrm>
            <a:off x="3324960" y="255960"/>
            <a:ext cx="8974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SYSTEM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8" name="Rectangle 8"/>
          <p:cNvSpPr/>
          <p:nvPr/>
        </p:nvSpPr>
        <p:spPr>
          <a:xfrm>
            <a:off x="3370680" y="530280"/>
            <a:ext cx="76032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TextBox 9"/>
          <p:cNvSpPr/>
          <p:nvPr/>
        </p:nvSpPr>
        <p:spPr>
          <a:xfrm>
            <a:off x="431496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COPILOT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0" name="Rectangle 10"/>
          <p:cNvSpPr/>
          <p:nvPr/>
        </p:nvSpPr>
        <p:spPr>
          <a:xfrm>
            <a:off x="436068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1" name="TextBox 11"/>
          <p:cNvSpPr/>
          <p:nvPr/>
        </p:nvSpPr>
        <p:spPr>
          <a:xfrm>
            <a:off x="5401080" y="255960"/>
            <a:ext cx="801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MLOPS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2" name="Rectangle 12"/>
          <p:cNvSpPr/>
          <p:nvPr/>
        </p:nvSpPr>
        <p:spPr>
          <a:xfrm>
            <a:off x="5446800" y="530280"/>
            <a:ext cx="6642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TextBox 13"/>
          <p:cNvSpPr/>
          <p:nvPr/>
        </p:nvSpPr>
        <p:spPr>
          <a:xfrm>
            <a:off x="629424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OUTLOOK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4" name="Rectangle 14"/>
          <p:cNvSpPr/>
          <p:nvPr/>
        </p:nvSpPr>
        <p:spPr>
          <a:xfrm>
            <a:off x="633996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5" name="TextBox 15"/>
          <p:cNvSpPr/>
          <p:nvPr/>
        </p:nvSpPr>
        <p:spPr>
          <a:xfrm>
            <a:off x="548640" y="809280"/>
            <a:ext cx="1106352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0f233f"/>
                </a:solidFill>
                <a:latin typeface="Calibri"/>
                <a:ea typeface="DejaVu Sans"/>
              </a:rPr>
              <a:t>The solution: AI-powered decision support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16" name="Rounded Rectangle 16"/>
          <p:cNvSpPr/>
          <p:nvPr/>
        </p:nvSpPr>
        <p:spPr>
          <a:xfrm>
            <a:off x="548640" y="5870520"/>
            <a:ext cx="11093760" cy="547920"/>
          </a:xfrm>
          <a:prstGeom prst="roundRect">
            <a:avLst>
              <a:gd name="adj" fmla="val 15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7" name="Rectangle 17"/>
          <p:cNvSpPr/>
          <p:nvPr/>
        </p:nvSpPr>
        <p:spPr>
          <a:xfrm>
            <a:off x="548640" y="5870520"/>
            <a:ext cx="109080" cy="54792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8" name="TextBox 18"/>
          <p:cNvSpPr/>
          <p:nvPr/>
        </p:nvSpPr>
        <p:spPr>
          <a:xfrm>
            <a:off x="868680" y="6012360"/>
            <a:ext cx="105451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The system scores and ranks; the human operator always makes the final decision.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9" name="TextBox 19"/>
          <p:cNvSpPr/>
          <p:nvPr/>
        </p:nvSpPr>
        <p:spPr>
          <a:xfrm>
            <a:off x="548640" y="6473880"/>
            <a:ext cx="36568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LogiGuard AI  |  Elham Rouzban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0" name="TextBox 20"/>
          <p:cNvSpPr/>
          <p:nvPr/>
        </p:nvSpPr>
        <p:spPr>
          <a:xfrm>
            <a:off x="10728720" y="6473880"/>
            <a:ext cx="9136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3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1" name="Rounded Rectangle 21"/>
          <p:cNvSpPr/>
          <p:nvPr/>
        </p:nvSpPr>
        <p:spPr>
          <a:xfrm>
            <a:off x="548640" y="1691640"/>
            <a:ext cx="1919520" cy="2102400"/>
          </a:xfrm>
          <a:prstGeom prst="roundRect">
            <a:avLst>
              <a:gd name="adj" fmla="val 7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2" name="Oval 22"/>
          <p:cNvSpPr/>
          <p:nvPr/>
        </p:nvSpPr>
        <p:spPr>
          <a:xfrm>
            <a:off x="1234440" y="1874520"/>
            <a:ext cx="547920" cy="547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23" name="TextBox 23"/>
          <p:cNvSpPr/>
          <p:nvPr/>
        </p:nvSpPr>
        <p:spPr>
          <a:xfrm>
            <a:off x="640080" y="2560320"/>
            <a:ext cx="17366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0f233f"/>
                </a:solidFill>
                <a:latin typeface="Calibri"/>
                <a:ea typeface="DejaVu Sans"/>
              </a:rPr>
              <a:t>New order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24" name="TextBox 24"/>
          <p:cNvSpPr/>
          <p:nvPr/>
        </p:nvSpPr>
        <p:spPr>
          <a:xfrm>
            <a:off x="685800" y="2999160"/>
            <a:ext cx="16452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enters via API or dashboard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5" name="Right Arrow 25"/>
          <p:cNvSpPr/>
          <p:nvPr/>
        </p:nvSpPr>
        <p:spPr>
          <a:xfrm>
            <a:off x="2496240" y="2606040"/>
            <a:ext cx="31032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a8f9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6" name="Rounded Rectangle 26"/>
          <p:cNvSpPr/>
          <p:nvPr/>
        </p:nvSpPr>
        <p:spPr>
          <a:xfrm>
            <a:off x="2834640" y="1691640"/>
            <a:ext cx="1919520" cy="2102400"/>
          </a:xfrm>
          <a:prstGeom prst="roundRect">
            <a:avLst>
              <a:gd name="adj" fmla="val 7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7" name="Oval 27"/>
          <p:cNvSpPr/>
          <p:nvPr/>
        </p:nvSpPr>
        <p:spPr>
          <a:xfrm>
            <a:off x="3520440" y="1874520"/>
            <a:ext cx="547920" cy="547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28" name="TextBox 28"/>
          <p:cNvSpPr/>
          <p:nvPr/>
        </p:nvSpPr>
        <p:spPr>
          <a:xfrm>
            <a:off x="2926080" y="2560320"/>
            <a:ext cx="17366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0f233f"/>
                </a:solidFill>
                <a:latin typeface="Calibri"/>
                <a:ea typeface="DejaVu Sans"/>
              </a:rPr>
              <a:t>Risk score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29" name="TextBox 29"/>
          <p:cNvSpPr/>
          <p:nvPr/>
        </p:nvSpPr>
        <p:spPr>
          <a:xfrm>
            <a:off x="2971800" y="2999160"/>
            <a:ext cx="16452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XGBoost predicts the probability of delay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0" name="Right Arrow 30"/>
          <p:cNvSpPr/>
          <p:nvPr/>
        </p:nvSpPr>
        <p:spPr>
          <a:xfrm>
            <a:off x="4782240" y="2606040"/>
            <a:ext cx="31032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a8f9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1" name="Rounded Rectangle 31"/>
          <p:cNvSpPr/>
          <p:nvPr/>
        </p:nvSpPr>
        <p:spPr>
          <a:xfrm>
            <a:off x="5120640" y="1691640"/>
            <a:ext cx="1919520" cy="2102400"/>
          </a:xfrm>
          <a:prstGeom prst="roundRect">
            <a:avLst>
              <a:gd name="adj" fmla="val 7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2" name="Oval 32"/>
          <p:cNvSpPr/>
          <p:nvPr/>
        </p:nvSpPr>
        <p:spPr>
          <a:xfrm>
            <a:off x="5806440" y="1874520"/>
            <a:ext cx="547920" cy="547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33" name="TextBox 33"/>
          <p:cNvSpPr/>
          <p:nvPr/>
        </p:nvSpPr>
        <p:spPr>
          <a:xfrm>
            <a:off x="5212080" y="2560320"/>
            <a:ext cx="17366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0f233f"/>
                </a:solidFill>
                <a:latin typeface="Calibri"/>
                <a:ea typeface="DejaVu Sans"/>
              </a:rPr>
              <a:t>Risk queue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34" name="TextBox 34"/>
          <p:cNvSpPr/>
          <p:nvPr/>
        </p:nvSpPr>
        <p:spPr>
          <a:xfrm>
            <a:off x="5257800" y="2999160"/>
            <a:ext cx="16452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orders ranked from highest risk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5" name="Right Arrow 35"/>
          <p:cNvSpPr/>
          <p:nvPr/>
        </p:nvSpPr>
        <p:spPr>
          <a:xfrm>
            <a:off x="7068240" y="2606040"/>
            <a:ext cx="31032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a8f9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6" name="Rounded Rectangle 36"/>
          <p:cNvSpPr/>
          <p:nvPr/>
        </p:nvSpPr>
        <p:spPr>
          <a:xfrm>
            <a:off x="7406640" y="1691640"/>
            <a:ext cx="1919520" cy="2102400"/>
          </a:xfrm>
          <a:prstGeom prst="roundRect">
            <a:avLst>
              <a:gd name="adj" fmla="val 7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7" name="Oval 37"/>
          <p:cNvSpPr/>
          <p:nvPr/>
        </p:nvSpPr>
        <p:spPr>
          <a:xfrm>
            <a:off x="8092440" y="1874520"/>
            <a:ext cx="547920" cy="547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4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38" name="TextBox 38"/>
          <p:cNvSpPr/>
          <p:nvPr/>
        </p:nvSpPr>
        <p:spPr>
          <a:xfrm>
            <a:off x="7498080" y="2560320"/>
            <a:ext cx="17366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0f233f"/>
                </a:solidFill>
                <a:latin typeface="Calibri"/>
                <a:ea typeface="DejaVu Sans"/>
              </a:rPr>
              <a:t>AI Copilot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39" name="TextBox 39"/>
          <p:cNvSpPr/>
          <p:nvPr/>
        </p:nvSpPr>
        <p:spPr>
          <a:xfrm>
            <a:off x="7543800" y="2999160"/>
            <a:ext cx="16452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collects evidence and explains it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0" name="Right Arrow 40"/>
          <p:cNvSpPr/>
          <p:nvPr/>
        </p:nvSpPr>
        <p:spPr>
          <a:xfrm>
            <a:off x="9354240" y="2606040"/>
            <a:ext cx="31032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a8f9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1" name="Rounded Rectangle 41"/>
          <p:cNvSpPr/>
          <p:nvPr/>
        </p:nvSpPr>
        <p:spPr>
          <a:xfrm>
            <a:off x="9692640" y="1691640"/>
            <a:ext cx="1919520" cy="2102400"/>
          </a:xfrm>
          <a:prstGeom prst="roundRect">
            <a:avLst>
              <a:gd name="adj" fmla="val 7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2" name="Oval 42"/>
          <p:cNvSpPr/>
          <p:nvPr/>
        </p:nvSpPr>
        <p:spPr>
          <a:xfrm>
            <a:off x="10378440" y="1874520"/>
            <a:ext cx="547920" cy="547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5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3" name="TextBox 43"/>
          <p:cNvSpPr/>
          <p:nvPr/>
        </p:nvSpPr>
        <p:spPr>
          <a:xfrm>
            <a:off x="9784080" y="2560320"/>
            <a:ext cx="17366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DejaVu Sans"/>
              </a:rPr>
              <a:t>Human decision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44" name="TextBox 44"/>
          <p:cNvSpPr/>
          <p:nvPr/>
        </p:nvSpPr>
        <p:spPr>
          <a:xfrm>
            <a:off x="9829800" y="2999160"/>
            <a:ext cx="16452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bfd3ee"/>
                </a:solidFill>
                <a:latin typeface="Calibri"/>
                <a:ea typeface="DejaVu Sans"/>
              </a:rPr>
              <a:t>operator decides the next step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5" name="TextBox 45"/>
          <p:cNvSpPr/>
          <p:nvPr/>
        </p:nvSpPr>
        <p:spPr>
          <a:xfrm>
            <a:off x="548640" y="4069080"/>
            <a:ext cx="548568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f233f"/>
                </a:solidFill>
                <a:latin typeface="Calibri"/>
                <a:ea typeface="DejaVu Sans"/>
              </a:rPr>
              <a:t>Risk levels shown to the operator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46" name="Rounded Rectangle 46"/>
          <p:cNvSpPr/>
          <p:nvPr/>
        </p:nvSpPr>
        <p:spPr>
          <a:xfrm>
            <a:off x="548640" y="4480560"/>
            <a:ext cx="1370880" cy="1050840"/>
          </a:xfrm>
          <a:prstGeom prst="roundRect">
            <a:avLst>
              <a:gd name="adj" fmla="val 10000"/>
            </a:avLst>
          </a:prstGeom>
          <a:solidFill>
            <a:srgbClr val="e4e6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7" name="TextBox 47"/>
          <p:cNvSpPr/>
          <p:nvPr/>
        </p:nvSpPr>
        <p:spPr>
          <a:xfrm>
            <a:off x="548640" y="4553640"/>
            <a:ext cx="13708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41414"/>
                </a:solidFill>
                <a:latin typeface="Calibri"/>
                <a:ea typeface="DejaVu Sans"/>
              </a:rPr>
              <a:t>No Risk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8" name="TextBox 48"/>
          <p:cNvSpPr/>
          <p:nvPr/>
        </p:nvSpPr>
        <p:spPr>
          <a:xfrm>
            <a:off x="548640" y="4983480"/>
            <a:ext cx="1370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41414"/>
                </a:solidFill>
                <a:latin typeface="Calibri"/>
                <a:ea typeface="DejaVu Sans"/>
              </a:rPr>
              <a:t>&lt; 0.40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9" name="Rounded Rectangle 49"/>
          <p:cNvSpPr/>
          <p:nvPr/>
        </p:nvSpPr>
        <p:spPr>
          <a:xfrm>
            <a:off x="1993320" y="4480560"/>
            <a:ext cx="1370880" cy="1050840"/>
          </a:xfrm>
          <a:prstGeom prst="roundRect">
            <a:avLst>
              <a:gd name="adj" fmla="val 10000"/>
            </a:avLst>
          </a:prstGeom>
          <a:solidFill>
            <a:srgbClr val="c9dd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0" name="TextBox 50"/>
          <p:cNvSpPr/>
          <p:nvPr/>
        </p:nvSpPr>
        <p:spPr>
          <a:xfrm>
            <a:off x="1993320" y="4553640"/>
            <a:ext cx="13708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f233f"/>
                </a:solidFill>
                <a:latin typeface="Calibri"/>
                <a:ea typeface="DejaVu Sans"/>
              </a:rPr>
              <a:t>Low Risk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1" name="TextBox 51"/>
          <p:cNvSpPr/>
          <p:nvPr/>
        </p:nvSpPr>
        <p:spPr>
          <a:xfrm>
            <a:off x="1993320" y="4983480"/>
            <a:ext cx="1370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f233f"/>
                </a:solidFill>
                <a:latin typeface="Calibri"/>
                <a:ea typeface="DejaVu Sans"/>
              </a:rPr>
              <a:t>0.40 – 0.60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2" name="Rounded Rectangle 52"/>
          <p:cNvSpPr/>
          <p:nvPr/>
        </p:nvSpPr>
        <p:spPr>
          <a:xfrm>
            <a:off x="3438000" y="4480560"/>
            <a:ext cx="1370880" cy="1050840"/>
          </a:xfrm>
          <a:prstGeom prst="roundRect">
            <a:avLst>
              <a:gd name="adj" fmla="val 10000"/>
            </a:avLst>
          </a:prstGeom>
          <a:solidFill>
            <a:srgbClr val="7fae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3" name="TextBox 53"/>
          <p:cNvSpPr/>
          <p:nvPr/>
        </p:nvSpPr>
        <p:spPr>
          <a:xfrm>
            <a:off x="3438000" y="4553640"/>
            <a:ext cx="13708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f233f"/>
                </a:solidFill>
                <a:latin typeface="Calibri"/>
                <a:ea typeface="DejaVu Sans"/>
              </a:rPr>
              <a:t>Medium Risk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4" name="TextBox 54"/>
          <p:cNvSpPr/>
          <p:nvPr/>
        </p:nvSpPr>
        <p:spPr>
          <a:xfrm>
            <a:off x="3438000" y="4983480"/>
            <a:ext cx="1370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f233f"/>
                </a:solidFill>
                <a:latin typeface="Calibri"/>
                <a:ea typeface="DejaVu Sans"/>
              </a:rPr>
              <a:t>0.60 – 0.80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5" name="Rounded Rectangle 55"/>
          <p:cNvSpPr/>
          <p:nvPr/>
        </p:nvSpPr>
        <p:spPr>
          <a:xfrm>
            <a:off x="4883040" y="4480560"/>
            <a:ext cx="1370880" cy="1050840"/>
          </a:xfrm>
          <a:prstGeom prst="roundRect">
            <a:avLst>
              <a:gd name="adj" fmla="val 10000"/>
            </a:avLst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6" name="TextBox 56"/>
          <p:cNvSpPr/>
          <p:nvPr/>
        </p:nvSpPr>
        <p:spPr>
          <a:xfrm>
            <a:off x="4883040" y="4553640"/>
            <a:ext cx="13708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High Risk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7" name="TextBox 57"/>
          <p:cNvSpPr/>
          <p:nvPr/>
        </p:nvSpPr>
        <p:spPr>
          <a:xfrm>
            <a:off x="4883040" y="4983480"/>
            <a:ext cx="1370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≥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0.80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8" name="Rounded Rectangle 58"/>
          <p:cNvSpPr/>
          <p:nvPr/>
        </p:nvSpPr>
        <p:spPr>
          <a:xfrm>
            <a:off x="6675120" y="4069080"/>
            <a:ext cx="4982760" cy="15080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9" name="Rectangle 59"/>
          <p:cNvSpPr/>
          <p:nvPr/>
        </p:nvSpPr>
        <p:spPr>
          <a:xfrm>
            <a:off x="6675120" y="4233600"/>
            <a:ext cx="54000" cy="117900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0" name="TextBox 60"/>
          <p:cNvSpPr/>
          <p:nvPr/>
        </p:nvSpPr>
        <p:spPr>
          <a:xfrm>
            <a:off x="6903720" y="4206240"/>
            <a:ext cx="452556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f233f"/>
                </a:solidFill>
                <a:latin typeface="Calibri"/>
                <a:ea typeface="DejaVu Sans"/>
              </a:rPr>
              <a:t>What it is not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1" name="TextBox 61"/>
          <p:cNvSpPr/>
          <p:nvPr/>
        </p:nvSpPr>
        <p:spPr>
          <a:xfrm>
            <a:off x="6903720" y="4636080"/>
            <a:ext cx="452556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555a64"/>
                </a:solidFill>
                <a:latin typeface="Calibri"/>
                <a:ea typeface="DejaVu Sans"/>
              </a:rPr>
              <a:t>Not a route optimizer, and not an autonomous dispatcher. It never acts on its own.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/>
          <p:nvPr/>
        </p:nvSpPr>
        <p:spPr>
          <a:xfrm>
            <a:off x="54864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PROBLEM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3" name="Rectangle 2"/>
          <p:cNvSpPr/>
          <p:nvPr/>
        </p:nvSpPr>
        <p:spPr>
          <a:xfrm>
            <a:off x="59436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4" name="TextBox 3"/>
          <p:cNvSpPr/>
          <p:nvPr/>
        </p:nvSpPr>
        <p:spPr>
          <a:xfrm>
            <a:off x="1634760" y="255960"/>
            <a:ext cx="7048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a78d6"/>
                </a:solidFill>
                <a:latin typeface="Calibri"/>
                <a:ea typeface="DejaVu Sans"/>
              </a:rPr>
              <a:t>DATA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5" name="Rectangle 4"/>
          <p:cNvSpPr/>
          <p:nvPr/>
        </p:nvSpPr>
        <p:spPr>
          <a:xfrm>
            <a:off x="1680480" y="530280"/>
            <a:ext cx="567720" cy="4500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6" name="TextBox 5"/>
          <p:cNvSpPr/>
          <p:nvPr/>
        </p:nvSpPr>
        <p:spPr>
          <a:xfrm>
            <a:off x="2431800" y="255960"/>
            <a:ext cx="801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MODEL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7" name="Rectangle 6"/>
          <p:cNvSpPr/>
          <p:nvPr/>
        </p:nvSpPr>
        <p:spPr>
          <a:xfrm>
            <a:off x="2477520" y="530280"/>
            <a:ext cx="6642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8" name="TextBox 7"/>
          <p:cNvSpPr/>
          <p:nvPr/>
        </p:nvSpPr>
        <p:spPr>
          <a:xfrm>
            <a:off x="3324960" y="255960"/>
            <a:ext cx="8974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SYSTEM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9" name="Rectangle 8"/>
          <p:cNvSpPr/>
          <p:nvPr/>
        </p:nvSpPr>
        <p:spPr>
          <a:xfrm>
            <a:off x="3370680" y="530280"/>
            <a:ext cx="76032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0" name="TextBox 9"/>
          <p:cNvSpPr/>
          <p:nvPr/>
        </p:nvSpPr>
        <p:spPr>
          <a:xfrm>
            <a:off x="431496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COPILOT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71" name="Rectangle 10"/>
          <p:cNvSpPr/>
          <p:nvPr/>
        </p:nvSpPr>
        <p:spPr>
          <a:xfrm>
            <a:off x="436068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2" name="TextBox 11"/>
          <p:cNvSpPr/>
          <p:nvPr/>
        </p:nvSpPr>
        <p:spPr>
          <a:xfrm>
            <a:off x="5401080" y="255960"/>
            <a:ext cx="801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MLOPS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73" name="Rectangle 12"/>
          <p:cNvSpPr/>
          <p:nvPr/>
        </p:nvSpPr>
        <p:spPr>
          <a:xfrm>
            <a:off x="5446800" y="530280"/>
            <a:ext cx="6642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4" name="TextBox 13"/>
          <p:cNvSpPr/>
          <p:nvPr/>
        </p:nvSpPr>
        <p:spPr>
          <a:xfrm>
            <a:off x="629424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OUTLOOK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75" name="Rectangle 14"/>
          <p:cNvSpPr/>
          <p:nvPr/>
        </p:nvSpPr>
        <p:spPr>
          <a:xfrm>
            <a:off x="633996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6" name="TextBox 15"/>
          <p:cNvSpPr/>
          <p:nvPr/>
        </p:nvSpPr>
        <p:spPr>
          <a:xfrm>
            <a:off x="548640" y="809280"/>
            <a:ext cx="1106352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0f233f"/>
                </a:solidFill>
                <a:latin typeface="Calibri"/>
                <a:ea typeface="DejaVu Sans"/>
              </a:rPr>
              <a:t>From raw data to a clean training set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77" name="Rounded Rectangle 16"/>
          <p:cNvSpPr/>
          <p:nvPr/>
        </p:nvSpPr>
        <p:spPr>
          <a:xfrm>
            <a:off x="548640" y="5870520"/>
            <a:ext cx="11093760" cy="547920"/>
          </a:xfrm>
          <a:prstGeom prst="roundRect">
            <a:avLst>
              <a:gd name="adj" fmla="val 15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8" name="Rectangle 17"/>
          <p:cNvSpPr/>
          <p:nvPr/>
        </p:nvSpPr>
        <p:spPr>
          <a:xfrm>
            <a:off x="548640" y="5870520"/>
            <a:ext cx="109080" cy="54792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9" name="TextBox 18"/>
          <p:cNvSpPr/>
          <p:nvPr/>
        </p:nvSpPr>
        <p:spPr>
          <a:xfrm>
            <a:off x="868680" y="6012360"/>
            <a:ext cx="105451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One row per order: the unit of the business decision, and safe against leakage.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80" name="TextBox 19"/>
          <p:cNvSpPr/>
          <p:nvPr/>
        </p:nvSpPr>
        <p:spPr>
          <a:xfrm>
            <a:off x="548640" y="6473880"/>
            <a:ext cx="36568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LogiGuard AI  |  Elham Rouzban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1" name="TextBox 20"/>
          <p:cNvSpPr/>
          <p:nvPr/>
        </p:nvSpPr>
        <p:spPr>
          <a:xfrm>
            <a:off x="10728720" y="6473880"/>
            <a:ext cx="9136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4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2" name="Rounded Rectangle 21"/>
          <p:cNvSpPr/>
          <p:nvPr/>
        </p:nvSpPr>
        <p:spPr>
          <a:xfrm>
            <a:off x="548640" y="1691640"/>
            <a:ext cx="2513880" cy="1828080"/>
          </a:xfrm>
          <a:prstGeom prst="roundRect">
            <a:avLst>
              <a:gd name="adj" fmla="val 7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3" name="TextBox 22"/>
          <p:cNvSpPr/>
          <p:nvPr/>
        </p:nvSpPr>
        <p:spPr>
          <a:xfrm>
            <a:off x="548640" y="1867320"/>
            <a:ext cx="251388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DejaVu Sans"/>
              </a:rPr>
              <a:t>180,519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84" name="TextBox 23"/>
          <p:cNvSpPr/>
          <p:nvPr/>
        </p:nvSpPr>
        <p:spPr>
          <a:xfrm>
            <a:off x="548640" y="2487240"/>
            <a:ext cx="25138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d3ee"/>
                </a:solidFill>
                <a:latin typeface="Calibri"/>
                <a:ea typeface="DejaVu Sans"/>
              </a:rPr>
              <a:t>item rows, 53 columns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85" name="TextBox 24"/>
          <p:cNvSpPr/>
          <p:nvPr/>
        </p:nvSpPr>
        <p:spPr>
          <a:xfrm>
            <a:off x="685800" y="2853000"/>
            <a:ext cx="223956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bfd3ee"/>
                </a:solidFill>
                <a:latin typeface="Calibri"/>
                <a:ea typeface="DejaVu Sans"/>
              </a:rPr>
              <a:t>Public DataCo supply-chain dataset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6" name="Right Arrow 25"/>
          <p:cNvSpPr/>
          <p:nvPr/>
        </p:nvSpPr>
        <p:spPr>
          <a:xfrm>
            <a:off x="3099960" y="2468880"/>
            <a:ext cx="25524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a8f9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7" name="Rounded Rectangle 26"/>
          <p:cNvSpPr/>
          <p:nvPr/>
        </p:nvSpPr>
        <p:spPr>
          <a:xfrm>
            <a:off x="3401640" y="1691640"/>
            <a:ext cx="2513880" cy="1828080"/>
          </a:xfrm>
          <a:prstGeom prst="roundRect">
            <a:avLst>
              <a:gd name="adj" fmla="val 7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8" name="TextBox 27"/>
          <p:cNvSpPr/>
          <p:nvPr/>
        </p:nvSpPr>
        <p:spPr>
          <a:xfrm>
            <a:off x="3401640" y="1958400"/>
            <a:ext cx="25138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f233f"/>
                </a:solidFill>
                <a:latin typeface="Calibri"/>
                <a:ea typeface="DejaVu Sans"/>
              </a:rPr>
              <a:t>Validate &amp; clean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89" name="TextBox 28"/>
          <p:cNvSpPr/>
          <p:nvPr/>
        </p:nvSpPr>
        <p:spPr>
          <a:xfrm>
            <a:off x="3401640" y="2487240"/>
            <a:ext cx="25138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a78d6"/>
                </a:solidFill>
                <a:latin typeface="Calibri"/>
                <a:ea typeface="DejaVu Sans"/>
              </a:rPr>
              <a:t>schema, values, dates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90" name="TextBox 29"/>
          <p:cNvSpPr/>
          <p:nvPr/>
        </p:nvSpPr>
        <p:spPr>
          <a:xfrm>
            <a:off x="3538800" y="2853000"/>
            <a:ext cx="2239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Deterministic, repeatable pipeline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1" name="Right Arrow 30"/>
          <p:cNvSpPr/>
          <p:nvPr/>
        </p:nvSpPr>
        <p:spPr>
          <a:xfrm>
            <a:off x="5952600" y="2468880"/>
            <a:ext cx="25524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a8f9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2" name="Rounded Rectangle 31"/>
          <p:cNvSpPr/>
          <p:nvPr/>
        </p:nvSpPr>
        <p:spPr>
          <a:xfrm>
            <a:off x="6254640" y="1691640"/>
            <a:ext cx="2513880" cy="1828080"/>
          </a:xfrm>
          <a:prstGeom prst="roundRect">
            <a:avLst>
              <a:gd name="adj" fmla="val 7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3" name="TextBox 32"/>
          <p:cNvSpPr/>
          <p:nvPr/>
        </p:nvSpPr>
        <p:spPr>
          <a:xfrm>
            <a:off x="6254640" y="1867320"/>
            <a:ext cx="251388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DejaVu Sans"/>
              </a:rPr>
              <a:t>65,752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94" name="TextBox 33"/>
          <p:cNvSpPr/>
          <p:nvPr/>
        </p:nvSpPr>
        <p:spPr>
          <a:xfrm>
            <a:off x="6254640" y="2487240"/>
            <a:ext cx="25138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d3ee"/>
                </a:solidFill>
                <a:latin typeface="Calibri"/>
                <a:ea typeface="DejaVu Sans"/>
              </a:rPr>
              <a:t>orders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95" name="TextBox 34"/>
          <p:cNvSpPr/>
          <p:nvPr/>
        </p:nvSpPr>
        <p:spPr>
          <a:xfrm>
            <a:off x="6391800" y="2853000"/>
            <a:ext cx="223956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bfd3ee"/>
                </a:solidFill>
                <a:latin typeface="Calibri"/>
                <a:ea typeface="DejaVu Sans"/>
              </a:rPr>
              <a:t>Items aggregated: one row per order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6" name="Right Arrow 35"/>
          <p:cNvSpPr/>
          <p:nvPr/>
        </p:nvSpPr>
        <p:spPr>
          <a:xfrm>
            <a:off x="8805600" y="2468880"/>
            <a:ext cx="25524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a8f9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7" name="Rounded Rectangle 36"/>
          <p:cNvSpPr/>
          <p:nvPr/>
        </p:nvSpPr>
        <p:spPr>
          <a:xfrm>
            <a:off x="9107280" y="1691640"/>
            <a:ext cx="2513880" cy="1828080"/>
          </a:xfrm>
          <a:prstGeom prst="roundRect">
            <a:avLst>
              <a:gd name="adj" fmla="val 7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8" name="TextBox 37"/>
          <p:cNvSpPr/>
          <p:nvPr/>
        </p:nvSpPr>
        <p:spPr>
          <a:xfrm>
            <a:off x="9107280" y="1867320"/>
            <a:ext cx="251388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DejaVu Sans"/>
              </a:rPr>
              <a:t>14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99" name="TextBox 38"/>
          <p:cNvSpPr/>
          <p:nvPr/>
        </p:nvSpPr>
        <p:spPr>
          <a:xfrm>
            <a:off x="9107280" y="2487240"/>
            <a:ext cx="25138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d3ee"/>
                </a:solidFill>
                <a:latin typeface="Calibri"/>
                <a:ea typeface="DejaVu Sans"/>
              </a:rPr>
              <a:t>input features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00" name="TextBox 39"/>
          <p:cNvSpPr/>
          <p:nvPr/>
        </p:nvSpPr>
        <p:spPr>
          <a:xfrm>
            <a:off x="9244440" y="2853000"/>
            <a:ext cx="2239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bfd3ee"/>
                </a:solidFill>
                <a:latin typeface="Calibri"/>
                <a:ea typeface="DejaVu Sans"/>
              </a:rPr>
              <a:t>6 categorical + 8 numerical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1" name="TextBox 40"/>
          <p:cNvSpPr/>
          <p:nvPr/>
        </p:nvSpPr>
        <p:spPr>
          <a:xfrm>
            <a:off x="548640" y="3794760"/>
            <a:ext cx="548568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f233f"/>
                </a:solidFill>
                <a:latin typeface="Calibri"/>
                <a:ea typeface="DejaVu Sans"/>
              </a:rPr>
              <a:t>Target: Late_delivery_risk (binary)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02" name="Rectangle 41"/>
          <p:cNvSpPr/>
          <p:nvPr/>
        </p:nvSpPr>
        <p:spPr>
          <a:xfrm>
            <a:off x="548640" y="4206240"/>
            <a:ext cx="3007440" cy="54792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3" name="Rectangle 42"/>
          <p:cNvSpPr/>
          <p:nvPr/>
        </p:nvSpPr>
        <p:spPr>
          <a:xfrm>
            <a:off x="3584160" y="4206240"/>
            <a:ext cx="2450160" cy="547920"/>
          </a:xfrm>
          <a:prstGeom prst="rect">
            <a:avLst/>
          </a:prstGeom>
          <a:solidFill>
            <a:srgbClr val="c9dd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4" name="TextBox 43"/>
          <p:cNvSpPr/>
          <p:nvPr/>
        </p:nvSpPr>
        <p:spPr>
          <a:xfrm>
            <a:off x="548640" y="4348080"/>
            <a:ext cx="30078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Late  55%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05" name="TextBox 44"/>
          <p:cNvSpPr/>
          <p:nvPr/>
        </p:nvSpPr>
        <p:spPr>
          <a:xfrm>
            <a:off x="3584520" y="4348080"/>
            <a:ext cx="24498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f233f"/>
                </a:solidFill>
                <a:latin typeface="Calibri"/>
                <a:ea typeface="DejaVu Sans"/>
              </a:rPr>
              <a:t>Not late  45%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06" name="TextBox 45"/>
          <p:cNvSpPr/>
          <p:nvPr/>
        </p:nvSpPr>
        <p:spPr>
          <a:xfrm>
            <a:off x="548640" y="4846320"/>
            <a:ext cx="54856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a64"/>
                </a:solidFill>
                <a:latin typeface="Calibri"/>
                <a:ea typeface="DejaVu Sans"/>
              </a:rPr>
              <a:t>Classes are reasonably balanced, so no resampling is needed.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7" name="TextBox 46"/>
          <p:cNvSpPr/>
          <p:nvPr/>
        </p:nvSpPr>
        <p:spPr>
          <a:xfrm>
            <a:off x="6492240" y="3794760"/>
            <a:ext cx="51199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f233f"/>
                </a:solidFill>
                <a:latin typeface="Calibri"/>
                <a:ea typeface="DejaVu Sans"/>
              </a:rPr>
              <a:t>Examples of features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08" name="Rounded Rectangle 47"/>
          <p:cNvSpPr/>
          <p:nvPr/>
        </p:nvSpPr>
        <p:spPr>
          <a:xfrm>
            <a:off x="6492240" y="4224600"/>
            <a:ext cx="1434960" cy="365040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9" name="TextBox 48"/>
          <p:cNvSpPr/>
          <p:nvPr/>
        </p:nvSpPr>
        <p:spPr>
          <a:xfrm>
            <a:off x="6492240" y="4298040"/>
            <a:ext cx="14349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f233f"/>
                </a:solidFill>
                <a:latin typeface="Calibri"/>
                <a:ea typeface="DejaVu Sans"/>
              </a:rPr>
              <a:t>Shipping mode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0" name="Rounded Rectangle 49"/>
          <p:cNvSpPr/>
          <p:nvPr/>
        </p:nvSpPr>
        <p:spPr>
          <a:xfrm>
            <a:off x="8019360" y="4224600"/>
            <a:ext cx="1681920" cy="365040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1" name="TextBox 50"/>
          <p:cNvSpPr/>
          <p:nvPr/>
        </p:nvSpPr>
        <p:spPr>
          <a:xfrm>
            <a:off x="8019360" y="4298040"/>
            <a:ext cx="16819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f233f"/>
                </a:solidFill>
                <a:latin typeface="Calibri"/>
                <a:ea typeface="DejaVu Sans"/>
              </a:rPr>
              <a:t>Customer segment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2" name="Rounded Rectangle 51"/>
          <p:cNvSpPr/>
          <p:nvPr/>
        </p:nvSpPr>
        <p:spPr>
          <a:xfrm>
            <a:off x="9793080" y="4224600"/>
            <a:ext cx="1352520" cy="365040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3" name="TextBox 52"/>
          <p:cNvSpPr/>
          <p:nvPr/>
        </p:nvSpPr>
        <p:spPr>
          <a:xfrm>
            <a:off x="9793080" y="4298040"/>
            <a:ext cx="13525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f233f"/>
                </a:solidFill>
                <a:latin typeface="Calibri"/>
                <a:ea typeface="DejaVu Sans"/>
              </a:rPr>
              <a:t>Order region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4" name="Rounded Rectangle 53"/>
          <p:cNvSpPr/>
          <p:nvPr/>
        </p:nvSpPr>
        <p:spPr>
          <a:xfrm>
            <a:off x="6492240" y="4681800"/>
            <a:ext cx="1434960" cy="365040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5" name="TextBox 54"/>
          <p:cNvSpPr/>
          <p:nvPr/>
        </p:nvSpPr>
        <p:spPr>
          <a:xfrm>
            <a:off x="6492240" y="4755240"/>
            <a:ext cx="14349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f233f"/>
                </a:solidFill>
                <a:latin typeface="Calibri"/>
                <a:ea typeface="DejaVu Sans"/>
              </a:rPr>
              <a:t>Order country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6" name="Rounded Rectangle 55"/>
          <p:cNvSpPr/>
          <p:nvPr/>
        </p:nvSpPr>
        <p:spPr>
          <a:xfrm>
            <a:off x="8019360" y="4681800"/>
            <a:ext cx="1188000" cy="365040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7" name="TextBox 56"/>
          <p:cNvSpPr/>
          <p:nvPr/>
        </p:nvSpPr>
        <p:spPr>
          <a:xfrm>
            <a:off x="8019360" y="4755240"/>
            <a:ext cx="11880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f233f"/>
                </a:solidFill>
                <a:latin typeface="Calibri"/>
                <a:ea typeface="DejaVu Sans"/>
              </a:rPr>
              <a:t>Order type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8" name="Rounded Rectangle 57"/>
          <p:cNvSpPr/>
          <p:nvPr/>
        </p:nvSpPr>
        <p:spPr>
          <a:xfrm>
            <a:off x="9299520" y="4681800"/>
            <a:ext cx="1517040" cy="365040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9" name="TextBox 58"/>
          <p:cNvSpPr/>
          <p:nvPr/>
        </p:nvSpPr>
        <p:spPr>
          <a:xfrm>
            <a:off x="9299520" y="4755240"/>
            <a:ext cx="15170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f233f"/>
                </a:solidFill>
                <a:latin typeface="Calibri"/>
                <a:ea typeface="DejaVu Sans"/>
              </a:rPr>
              <a:t>Total quantity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0" name="Rounded Rectangle 59"/>
          <p:cNvSpPr/>
          <p:nvPr/>
        </p:nvSpPr>
        <p:spPr>
          <a:xfrm>
            <a:off x="6492240" y="5139000"/>
            <a:ext cx="1517040" cy="365040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1" name="TextBox 60"/>
          <p:cNvSpPr/>
          <p:nvPr/>
        </p:nvSpPr>
        <p:spPr>
          <a:xfrm>
            <a:off x="6492240" y="5212440"/>
            <a:ext cx="15170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f233f"/>
                </a:solidFill>
                <a:latin typeface="Calibri"/>
                <a:ea typeface="DejaVu Sans"/>
              </a:rPr>
              <a:t>Total discount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2" name="Rounded Rectangle 61"/>
          <p:cNvSpPr/>
          <p:nvPr/>
        </p:nvSpPr>
        <p:spPr>
          <a:xfrm>
            <a:off x="8101440" y="5139000"/>
            <a:ext cx="1270440" cy="365040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3" name="TextBox 62"/>
          <p:cNvSpPr/>
          <p:nvPr/>
        </p:nvSpPr>
        <p:spPr>
          <a:xfrm>
            <a:off x="8101440" y="5212440"/>
            <a:ext cx="12704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f233f"/>
                </a:solidFill>
                <a:latin typeface="Calibri"/>
                <a:ea typeface="DejaVu Sans"/>
              </a:rPr>
              <a:t>Product mix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4" name="Rounded Rectangle 63"/>
          <p:cNvSpPr/>
          <p:nvPr/>
        </p:nvSpPr>
        <p:spPr>
          <a:xfrm>
            <a:off x="9464040" y="5139000"/>
            <a:ext cx="1188000" cy="365040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5" name="TextBox 64"/>
          <p:cNvSpPr/>
          <p:nvPr/>
        </p:nvSpPr>
        <p:spPr>
          <a:xfrm>
            <a:off x="9464040" y="5212440"/>
            <a:ext cx="11880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f233f"/>
                </a:solidFill>
                <a:latin typeface="Calibri"/>
                <a:ea typeface="DejaVu Sans"/>
              </a:rPr>
              <a:t>Order time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1"/>
          <p:cNvSpPr/>
          <p:nvPr/>
        </p:nvSpPr>
        <p:spPr>
          <a:xfrm>
            <a:off x="54864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PROBLEM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27" name="Rectangle 2"/>
          <p:cNvSpPr/>
          <p:nvPr/>
        </p:nvSpPr>
        <p:spPr>
          <a:xfrm>
            <a:off x="59436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8" name="TextBox 3"/>
          <p:cNvSpPr/>
          <p:nvPr/>
        </p:nvSpPr>
        <p:spPr>
          <a:xfrm>
            <a:off x="1634760" y="255960"/>
            <a:ext cx="7048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a78d6"/>
                </a:solidFill>
                <a:latin typeface="Calibri"/>
                <a:ea typeface="DejaVu Sans"/>
              </a:rPr>
              <a:t>DATA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29" name="Rectangle 4"/>
          <p:cNvSpPr/>
          <p:nvPr/>
        </p:nvSpPr>
        <p:spPr>
          <a:xfrm>
            <a:off x="1680480" y="530280"/>
            <a:ext cx="567720" cy="4500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0" name="TextBox 5"/>
          <p:cNvSpPr/>
          <p:nvPr/>
        </p:nvSpPr>
        <p:spPr>
          <a:xfrm>
            <a:off x="2431800" y="255960"/>
            <a:ext cx="801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MODEL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31" name="Rectangle 6"/>
          <p:cNvSpPr/>
          <p:nvPr/>
        </p:nvSpPr>
        <p:spPr>
          <a:xfrm>
            <a:off x="2477520" y="530280"/>
            <a:ext cx="6642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2" name="TextBox 7"/>
          <p:cNvSpPr/>
          <p:nvPr/>
        </p:nvSpPr>
        <p:spPr>
          <a:xfrm>
            <a:off x="3324960" y="255960"/>
            <a:ext cx="8974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SYSTEM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33" name="Rectangle 8"/>
          <p:cNvSpPr/>
          <p:nvPr/>
        </p:nvSpPr>
        <p:spPr>
          <a:xfrm>
            <a:off x="3370680" y="530280"/>
            <a:ext cx="76032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4" name="TextBox 9"/>
          <p:cNvSpPr/>
          <p:nvPr/>
        </p:nvSpPr>
        <p:spPr>
          <a:xfrm>
            <a:off x="431496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COPILOT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35" name="Rectangle 10"/>
          <p:cNvSpPr/>
          <p:nvPr/>
        </p:nvSpPr>
        <p:spPr>
          <a:xfrm>
            <a:off x="436068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6" name="TextBox 11"/>
          <p:cNvSpPr/>
          <p:nvPr/>
        </p:nvSpPr>
        <p:spPr>
          <a:xfrm>
            <a:off x="5401080" y="255960"/>
            <a:ext cx="801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MLOPS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37" name="Rectangle 12"/>
          <p:cNvSpPr/>
          <p:nvPr/>
        </p:nvSpPr>
        <p:spPr>
          <a:xfrm>
            <a:off x="5446800" y="530280"/>
            <a:ext cx="6642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8" name="TextBox 13"/>
          <p:cNvSpPr/>
          <p:nvPr/>
        </p:nvSpPr>
        <p:spPr>
          <a:xfrm>
            <a:off x="629424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OUTLOOK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39" name="Rectangle 14"/>
          <p:cNvSpPr/>
          <p:nvPr/>
        </p:nvSpPr>
        <p:spPr>
          <a:xfrm>
            <a:off x="633996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0" name="TextBox 15"/>
          <p:cNvSpPr/>
          <p:nvPr/>
        </p:nvSpPr>
        <p:spPr>
          <a:xfrm>
            <a:off x="548640" y="809280"/>
            <a:ext cx="1106352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0f233f"/>
                </a:solidFill>
                <a:latin typeface="Calibri"/>
                <a:ea typeface="DejaVu Sans"/>
              </a:rPr>
              <a:t>Preventing data leakage: an honest evaluation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41" name="Rounded Rectangle 16"/>
          <p:cNvSpPr/>
          <p:nvPr/>
        </p:nvSpPr>
        <p:spPr>
          <a:xfrm>
            <a:off x="548640" y="5870520"/>
            <a:ext cx="11093760" cy="547920"/>
          </a:xfrm>
          <a:prstGeom prst="roundRect">
            <a:avLst>
              <a:gd name="adj" fmla="val 15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2" name="Rectangle 17"/>
          <p:cNvSpPr/>
          <p:nvPr/>
        </p:nvSpPr>
        <p:spPr>
          <a:xfrm>
            <a:off x="548640" y="5870520"/>
            <a:ext cx="109080" cy="54792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3" name="TextBox 18"/>
          <p:cNvSpPr/>
          <p:nvPr/>
        </p:nvSpPr>
        <p:spPr>
          <a:xfrm>
            <a:off x="868680" y="6012360"/>
            <a:ext cx="105451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The model is tested the way it will be used: on future orders it has never seen.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44" name="TextBox 19"/>
          <p:cNvSpPr/>
          <p:nvPr/>
        </p:nvSpPr>
        <p:spPr>
          <a:xfrm>
            <a:off x="548640" y="6473880"/>
            <a:ext cx="36568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LogiGuard AI  |  Elham Rouzban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45" name="TextBox 20"/>
          <p:cNvSpPr/>
          <p:nvPr/>
        </p:nvSpPr>
        <p:spPr>
          <a:xfrm>
            <a:off x="10728720" y="6473880"/>
            <a:ext cx="9136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5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46" name="TextBox 21"/>
          <p:cNvSpPr/>
          <p:nvPr/>
        </p:nvSpPr>
        <p:spPr>
          <a:xfrm>
            <a:off x="548640" y="1554480"/>
            <a:ext cx="731448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f233f"/>
                </a:solidFill>
                <a:latin typeface="Calibri"/>
                <a:ea typeface="DejaVu Sans"/>
              </a:rPr>
              <a:t>Time-Based split: sorted by order date, no random shuffling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47" name="Rectangle 22"/>
          <p:cNvSpPr/>
          <p:nvPr/>
        </p:nvSpPr>
        <p:spPr>
          <a:xfrm>
            <a:off x="548640" y="1993320"/>
            <a:ext cx="7707600" cy="776520"/>
          </a:xfrm>
          <a:prstGeom prst="rect">
            <a:avLst/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8" name="TextBox 23"/>
          <p:cNvSpPr/>
          <p:nvPr/>
        </p:nvSpPr>
        <p:spPr>
          <a:xfrm>
            <a:off x="548640" y="2249640"/>
            <a:ext cx="77076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Train  70%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49" name="Rectangle 24"/>
          <p:cNvSpPr/>
          <p:nvPr/>
        </p:nvSpPr>
        <p:spPr>
          <a:xfrm>
            <a:off x="8293680" y="1993320"/>
            <a:ext cx="1622520" cy="77652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0" name="TextBox 25"/>
          <p:cNvSpPr/>
          <p:nvPr/>
        </p:nvSpPr>
        <p:spPr>
          <a:xfrm>
            <a:off x="8293680" y="2249640"/>
            <a:ext cx="16225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Validation  15%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51" name="Rectangle 26"/>
          <p:cNvSpPr/>
          <p:nvPr/>
        </p:nvSpPr>
        <p:spPr>
          <a:xfrm>
            <a:off x="9953280" y="1993320"/>
            <a:ext cx="1622520" cy="776520"/>
          </a:xfrm>
          <a:prstGeom prst="rect">
            <a:avLst/>
          </a:prstGeom>
          <a:solidFill>
            <a:srgbClr val="c9dd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2" name="TextBox 27"/>
          <p:cNvSpPr/>
          <p:nvPr/>
        </p:nvSpPr>
        <p:spPr>
          <a:xfrm>
            <a:off x="9953280" y="2249640"/>
            <a:ext cx="16225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f233f"/>
                </a:solidFill>
                <a:latin typeface="Calibri"/>
                <a:ea typeface="DejaVu Sans"/>
              </a:rPr>
              <a:t>Test  15%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53" name="TextBox 28"/>
          <p:cNvSpPr/>
          <p:nvPr/>
        </p:nvSpPr>
        <p:spPr>
          <a:xfrm>
            <a:off x="548640" y="2816280"/>
            <a:ext cx="27424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a8f98"/>
                </a:solidFill>
                <a:latin typeface="Calibri"/>
                <a:ea typeface="DejaVu Sans"/>
              </a:rPr>
              <a:t>oldest orders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54" name="TextBox 29"/>
          <p:cNvSpPr/>
          <p:nvPr/>
        </p:nvSpPr>
        <p:spPr>
          <a:xfrm>
            <a:off x="8869680" y="2816280"/>
            <a:ext cx="27424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a8f98"/>
                </a:solidFill>
                <a:latin typeface="Calibri"/>
                <a:ea typeface="DejaVu Sans"/>
              </a:rPr>
              <a:t>newest orders  →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55" name="Rounded Rectangle 30"/>
          <p:cNvSpPr/>
          <p:nvPr/>
        </p:nvSpPr>
        <p:spPr>
          <a:xfrm>
            <a:off x="548640" y="3429000"/>
            <a:ext cx="3611160" cy="21938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6" name="Rectangle 31"/>
          <p:cNvSpPr/>
          <p:nvPr/>
        </p:nvSpPr>
        <p:spPr>
          <a:xfrm>
            <a:off x="548640" y="3593520"/>
            <a:ext cx="54000" cy="186480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7" name="TextBox 32"/>
          <p:cNvSpPr/>
          <p:nvPr/>
        </p:nvSpPr>
        <p:spPr>
          <a:xfrm>
            <a:off x="777240" y="3566160"/>
            <a:ext cx="315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900" spc="-1" strike="noStrike">
                <a:solidFill>
                  <a:srgbClr val="0f233f"/>
                </a:solidFill>
                <a:latin typeface="Calibri"/>
                <a:ea typeface="DejaVu Sans"/>
              </a:rPr>
              <a:t>No future information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58" name="TextBox 33"/>
          <p:cNvSpPr/>
          <p:nvPr/>
        </p:nvSpPr>
        <p:spPr>
          <a:xfrm>
            <a:off x="777240" y="3996000"/>
            <a:ext cx="3153960" cy="76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555a64"/>
                </a:solidFill>
                <a:latin typeface="Calibri"/>
                <a:ea typeface="DejaVu Sans"/>
              </a:rPr>
              <a:t>Real shipping days and delivery status are only known after shipping, so they are removed.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59" name="Rounded Rectangle 34"/>
          <p:cNvSpPr/>
          <p:nvPr/>
        </p:nvSpPr>
        <p:spPr>
          <a:xfrm>
            <a:off x="4297680" y="3429000"/>
            <a:ext cx="3611160" cy="21938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0" name="Rectangle 35"/>
          <p:cNvSpPr/>
          <p:nvPr/>
        </p:nvSpPr>
        <p:spPr>
          <a:xfrm>
            <a:off x="4297680" y="3593520"/>
            <a:ext cx="54000" cy="186480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1" name="TextBox 36"/>
          <p:cNvSpPr/>
          <p:nvPr/>
        </p:nvSpPr>
        <p:spPr>
          <a:xfrm>
            <a:off x="4526280" y="3566160"/>
            <a:ext cx="315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900" spc="-1" strike="noStrike">
                <a:solidFill>
                  <a:srgbClr val="0f233f"/>
                </a:solidFill>
                <a:latin typeface="Calibri"/>
                <a:ea typeface="DejaVu Sans"/>
              </a:rPr>
              <a:t>Learn from training only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62" name="TextBox 37"/>
          <p:cNvSpPr/>
          <p:nvPr/>
        </p:nvSpPr>
        <p:spPr>
          <a:xfrm>
            <a:off x="4526280" y="3996000"/>
            <a:ext cx="3153960" cy="76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555a64"/>
                </a:solidFill>
                <a:latin typeface="Calibri"/>
                <a:ea typeface="DejaVu Sans"/>
              </a:rPr>
              <a:t>Encoder, scaler and rare-country grouping are fitted on the training data, then reused.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63" name="Rounded Rectangle 38"/>
          <p:cNvSpPr/>
          <p:nvPr/>
        </p:nvSpPr>
        <p:spPr>
          <a:xfrm>
            <a:off x="8046720" y="3429000"/>
            <a:ext cx="3611160" cy="21938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4" name="Rectangle 39"/>
          <p:cNvSpPr/>
          <p:nvPr/>
        </p:nvSpPr>
        <p:spPr>
          <a:xfrm>
            <a:off x="8046720" y="3593520"/>
            <a:ext cx="54000" cy="186480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5" name="TextBox 40"/>
          <p:cNvSpPr/>
          <p:nvPr/>
        </p:nvSpPr>
        <p:spPr>
          <a:xfrm>
            <a:off x="8275320" y="3566160"/>
            <a:ext cx="315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900" spc="-1" strike="noStrike">
                <a:solidFill>
                  <a:srgbClr val="0f233f"/>
                </a:solidFill>
                <a:latin typeface="Calibri"/>
                <a:ea typeface="DejaVu Sans"/>
              </a:rPr>
              <a:t>Test set used once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66" name="TextBox 41"/>
          <p:cNvSpPr/>
          <p:nvPr/>
        </p:nvSpPr>
        <p:spPr>
          <a:xfrm>
            <a:off x="8275320" y="3996000"/>
            <a:ext cx="3153960" cy="76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555a64"/>
                </a:solidFill>
                <a:latin typeface="Calibri"/>
                <a:ea typeface="DejaVu Sans"/>
              </a:rPr>
              <a:t>Model choice and threshold were decided on validation. The test set stayed untouched.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Box 1"/>
          <p:cNvSpPr/>
          <p:nvPr/>
        </p:nvSpPr>
        <p:spPr>
          <a:xfrm>
            <a:off x="54864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PROBLEM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68" name="Rectangle 2"/>
          <p:cNvSpPr/>
          <p:nvPr/>
        </p:nvSpPr>
        <p:spPr>
          <a:xfrm>
            <a:off x="59436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9" name="TextBox 3"/>
          <p:cNvSpPr/>
          <p:nvPr/>
        </p:nvSpPr>
        <p:spPr>
          <a:xfrm>
            <a:off x="1634760" y="255960"/>
            <a:ext cx="7048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DATA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70" name="Rectangle 4"/>
          <p:cNvSpPr/>
          <p:nvPr/>
        </p:nvSpPr>
        <p:spPr>
          <a:xfrm>
            <a:off x="1680480" y="530280"/>
            <a:ext cx="56772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1" name="TextBox 5"/>
          <p:cNvSpPr/>
          <p:nvPr/>
        </p:nvSpPr>
        <p:spPr>
          <a:xfrm>
            <a:off x="2431800" y="255960"/>
            <a:ext cx="801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a78d6"/>
                </a:solidFill>
                <a:latin typeface="Calibri"/>
                <a:ea typeface="DejaVu Sans"/>
              </a:rPr>
              <a:t>MODEL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72" name="Rectangle 6"/>
          <p:cNvSpPr/>
          <p:nvPr/>
        </p:nvSpPr>
        <p:spPr>
          <a:xfrm>
            <a:off x="2477520" y="530280"/>
            <a:ext cx="664200" cy="4500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3" name="TextBox 7"/>
          <p:cNvSpPr/>
          <p:nvPr/>
        </p:nvSpPr>
        <p:spPr>
          <a:xfrm>
            <a:off x="3324960" y="255960"/>
            <a:ext cx="8974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SYSTEM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74" name="Rectangle 8"/>
          <p:cNvSpPr/>
          <p:nvPr/>
        </p:nvSpPr>
        <p:spPr>
          <a:xfrm>
            <a:off x="3370680" y="530280"/>
            <a:ext cx="76032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5" name="TextBox 9"/>
          <p:cNvSpPr/>
          <p:nvPr/>
        </p:nvSpPr>
        <p:spPr>
          <a:xfrm>
            <a:off x="431496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COPILOT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76" name="Rectangle 10"/>
          <p:cNvSpPr/>
          <p:nvPr/>
        </p:nvSpPr>
        <p:spPr>
          <a:xfrm>
            <a:off x="436068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7" name="TextBox 11"/>
          <p:cNvSpPr/>
          <p:nvPr/>
        </p:nvSpPr>
        <p:spPr>
          <a:xfrm>
            <a:off x="5401080" y="255960"/>
            <a:ext cx="801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MLOPS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78" name="Rectangle 12"/>
          <p:cNvSpPr/>
          <p:nvPr/>
        </p:nvSpPr>
        <p:spPr>
          <a:xfrm>
            <a:off x="5446800" y="530280"/>
            <a:ext cx="6642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9" name="TextBox 13"/>
          <p:cNvSpPr/>
          <p:nvPr/>
        </p:nvSpPr>
        <p:spPr>
          <a:xfrm>
            <a:off x="629424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OUTLOOK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80" name="Rectangle 14"/>
          <p:cNvSpPr/>
          <p:nvPr/>
        </p:nvSpPr>
        <p:spPr>
          <a:xfrm>
            <a:off x="633996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1" name="TextBox 15"/>
          <p:cNvSpPr/>
          <p:nvPr/>
        </p:nvSpPr>
        <p:spPr>
          <a:xfrm>
            <a:off x="548640" y="809280"/>
            <a:ext cx="1106352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0f233f"/>
                </a:solidFill>
                <a:latin typeface="Calibri"/>
                <a:ea typeface="DejaVu Sans"/>
              </a:rPr>
              <a:t>Model selection: four models compared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82" name="Rounded Rectangle 16"/>
          <p:cNvSpPr/>
          <p:nvPr/>
        </p:nvSpPr>
        <p:spPr>
          <a:xfrm>
            <a:off x="548640" y="5870520"/>
            <a:ext cx="11093760" cy="547920"/>
          </a:xfrm>
          <a:prstGeom prst="roundRect">
            <a:avLst>
              <a:gd name="adj" fmla="val 15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3" name="Rectangle 17"/>
          <p:cNvSpPr/>
          <p:nvPr/>
        </p:nvSpPr>
        <p:spPr>
          <a:xfrm>
            <a:off x="548640" y="5870520"/>
            <a:ext cx="109080" cy="54792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4" name="TextBox 18"/>
          <p:cNvSpPr/>
          <p:nvPr/>
        </p:nvSpPr>
        <p:spPr>
          <a:xfrm>
            <a:off x="868680" y="6012360"/>
            <a:ext cx="105451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Tuned XGBoost: best ranking quality and recall, low overfitting, and fast.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85" name="TextBox 19"/>
          <p:cNvSpPr/>
          <p:nvPr/>
        </p:nvSpPr>
        <p:spPr>
          <a:xfrm>
            <a:off x="548640" y="6473880"/>
            <a:ext cx="36568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LogiGuard AI  |  Elham Rouzban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86" name="TextBox 20"/>
          <p:cNvSpPr/>
          <p:nvPr/>
        </p:nvSpPr>
        <p:spPr>
          <a:xfrm>
            <a:off x="10728720" y="6473880"/>
            <a:ext cx="9136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6</a:t>
            </a:r>
            <a:endParaRPr b="0" lang="en-US" sz="1000" spc="-1" strike="noStrike">
              <a:latin typeface="Arial"/>
            </a:endParaRPr>
          </a:p>
        </p:txBody>
      </p:sp>
      <p:graphicFrame>
        <p:nvGraphicFramePr>
          <p:cNvPr id="287" name="Table 21"/>
          <p:cNvGraphicFramePr/>
          <p:nvPr/>
        </p:nvGraphicFramePr>
        <p:xfrm>
          <a:off x="548640" y="1600200"/>
          <a:ext cx="7406280" cy="255960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822960"/>
                <a:gridCol w="731520"/>
                <a:gridCol w="960120"/>
                <a:gridCol w="960120"/>
              </a:tblGrid>
              <a:tr h="511920">
                <a:tc>
                  <a:txBody>
                    <a:bodyPr lIns="109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Model  (validation, threshold 0.50)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233f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233f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233f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233f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233f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Train time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233f"/>
                    </a:solidFill>
                  </a:tcPr>
                </a:tc>
              </a:tr>
              <a:tr h="511920">
                <a:tc>
                  <a:txBody>
                    <a:bodyPr lIns="109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41414"/>
                          </a:solidFill>
                          <a:latin typeface="Calibri"/>
                        </a:rPr>
                        <a:t>Logistic Regression  (baseline)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41414"/>
                          </a:solidFill>
                          <a:latin typeface="Calibri"/>
                        </a:rPr>
                        <a:t>0.836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41414"/>
                          </a:solidFill>
                          <a:latin typeface="Calibri"/>
                        </a:rPr>
                        <a:t>0.561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41414"/>
                          </a:solidFill>
                          <a:latin typeface="Calibri"/>
                        </a:rPr>
                        <a:t>0.671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41414"/>
                          </a:solidFill>
                          <a:latin typeface="Calibri"/>
                        </a:rPr>
                        <a:t>0.743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41414"/>
                          </a:solidFill>
                          <a:latin typeface="Calibri"/>
                        </a:rPr>
                        <a:t>0.12 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lIns="109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41414"/>
                          </a:solidFill>
                          <a:latin typeface="Calibri"/>
                        </a:rPr>
                        <a:t>Decision Tree  (tuned)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41414"/>
                          </a:solidFill>
                          <a:latin typeface="Calibri"/>
                        </a:rPr>
                        <a:t>0.846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41414"/>
                          </a:solidFill>
                          <a:latin typeface="Calibri"/>
                        </a:rPr>
                        <a:t>0.590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41414"/>
                          </a:solidFill>
                          <a:latin typeface="Calibri"/>
                        </a:rPr>
                        <a:t>0.695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41414"/>
                          </a:solidFill>
                          <a:latin typeface="Calibri"/>
                        </a:rPr>
                        <a:t>0.767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41414"/>
                          </a:solidFill>
                          <a:latin typeface="Calibri"/>
                        </a:rPr>
                        <a:t>0.12 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</a:tr>
              <a:tr h="511920">
                <a:tc>
                  <a:txBody>
                    <a:bodyPr lIns="109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41414"/>
                          </a:solidFill>
                          <a:latin typeface="Calibri"/>
                        </a:rPr>
                        <a:t>Random Forest  (tuned)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41414"/>
                          </a:solidFill>
                          <a:latin typeface="Calibri"/>
                        </a:rPr>
                        <a:t>0.848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41414"/>
                          </a:solidFill>
                          <a:latin typeface="Calibri"/>
                        </a:rPr>
                        <a:t>0.590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41414"/>
                          </a:solidFill>
                          <a:latin typeface="Calibri"/>
                        </a:rPr>
                        <a:t>0.696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41414"/>
                          </a:solidFill>
                          <a:latin typeface="Calibri"/>
                        </a:rPr>
                        <a:t>0.770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41414"/>
                          </a:solidFill>
                          <a:latin typeface="Calibri"/>
                        </a:rPr>
                        <a:t>1.71 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280">
                <a:tc>
                  <a:txBody>
                    <a:bodyPr lIns="109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0f233f"/>
                          </a:solidFill>
                          <a:latin typeface="Calibri"/>
                        </a:rPr>
                        <a:t>XGBoost  (tuned, selected)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0f233f"/>
                          </a:solidFill>
                          <a:latin typeface="Calibri"/>
                        </a:rPr>
                        <a:t>0.844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0f233f"/>
                          </a:solidFill>
                          <a:latin typeface="Calibri"/>
                        </a:rPr>
                        <a:t>0.592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0f233f"/>
                          </a:solidFill>
                          <a:latin typeface="Calibri"/>
                        </a:rPr>
                        <a:t>0.696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0f233f"/>
                          </a:solidFill>
                          <a:latin typeface="Calibri"/>
                        </a:rPr>
                        <a:t>0.772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 lIns="10944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0f233f"/>
                          </a:solidFill>
                          <a:latin typeface="Calibri"/>
                        </a:rPr>
                        <a:t>0.29 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109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f2fc"/>
                    </a:solidFill>
                  </a:tcPr>
                </a:tc>
              </a:tr>
            </a:tbl>
          </a:graphicData>
        </a:graphic>
      </p:graphicFrame>
      <p:sp>
        <p:nvSpPr>
          <p:cNvPr id="288" name="TextBox 22"/>
          <p:cNvSpPr/>
          <p:nvPr/>
        </p:nvSpPr>
        <p:spPr>
          <a:xfrm>
            <a:off x="548640" y="4251960"/>
            <a:ext cx="740592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a64"/>
                </a:solidFill>
                <a:latin typeface="Calibri"/>
                <a:ea typeface="DejaVu Sans"/>
              </a:rPr>
              <a:t>Default Decision Tree and Random Forest scored a perfect 1.00 on training data: clear overfitting. All tree models were therefore tuned. After tuning, the three are close, so the choice is a careful trade-off, not a big win.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89" name="Rounded Rectangle 23"/>
          <p:cNvSpPr/>
          <p:nvPr/>
        </p:nvSpPr>
        <p:spPr>
          <a:xfrm>
            <a:off x="8229600" y="1600200"/>
            <a:ext cx="3428280" cy="4022640"/>
          </a:xfrm>
          <a:prstGeom prst="roundRect">
            <a:avLst>
              <a:gd name="adj" fmla="val 5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0" name="TextBox 24"/>
          <p:cNvSpPr/>
          <p:nvPr/>
        </p:nvSpPr>
        <p:spPr>
          <a:xfrm>
            <a:off x="8503920" y="1783080"/>
            <a:ext cx="29253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900" spc="-1" strike="noStrike">
                <a:solidFill>
                  <a:srgbClr val="ffffff"/>
                </a:solidFill>
                <a:latin typeface="Calibri"/>
                <a:ea typeface="DejaVu Sans"/>
              </a:rPr>
              <a:t>Why XGBoost?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91" name="Oval 25"/>
          <p:cNvSpPr/>
          <p:nvPr/>
        </p:nvSpPr>
        <p:spPr>
          <a:xfrm>
            <a:off x="8503920" y="2423160"/>
            <a:ext cx="328320" cy="328320"/>
          </a:xfrm>
          <a:prstGeom prst="ellipse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92" name="TextBox 26"/>
          <p:cNvSpPr/>
          <p:nvPr/>
        </p:nvSpPr>
        <p:spPr>
          <a:xfrm>
            <a:off x="8961120" y="2377440"/>
            <a:ext cx="25596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Highest ROC-AUC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93" name="TextBox 27"/>
          <p:cNvSpPr/>
          <p:nvPr/>
        </p:nvSpPr>
        <p:spPr>
          <a:xfrm>
            <a:off x="8961120" y="2706480"/>
            <a:ext cx="25596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bfd3ee"/>
                </a:solidFill>
                <a:latin typeface="Calibri"/>
                <a:ea typeface="DejaVu Sans"/>
              </a:rPr>
              <a:t>0.772 on validation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94" name="Oval 28"/>
          <p:cNvSpPr/>
          <p:nvPr/>
        </p:nvSpPr>
        <p:spPr>
          <a:xfrm>
            <a:off x="8503920" y="3227760"/>
            <a:ext cx="328320" cy="328320"/>
          </a:xfrm>
          <a:prstGeom prst="ellipse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95" name="TextBox 29"/>
          <p:cNvSpPr/>
          <p:nvPr/>
        </p:nvSpPr>
        <p:spPr>
          <a:xfrm>
            <a:off x="8961120" y="3182040"/>
            <a:ext cx="25596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Best recall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96" name="TextBox 30"/>
          <p:cNvSpPr/>
          <p:nvPr/>
        </p:nvSpPr>
        <p:spPr>
          <a:xfrm>
            <a:off x="8961120" y="3511440"/>
            <a:ext cx="25596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bfd3ee"/>
                </a:solidFill>
                <a:latin typeface="Calibri"/>
                <a:ea typeface="DejaVu Sans"/>
              </a:rPr>
              <a:t>catches the most late orders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97" name="Oval 31"/>
          <p:cNvSpPr/>
          <p:nvPr/>
        </p:nvSpPr>
        <p:spPr>
          <a:xfrm>
            <a:off x="8503920" y="4032360"/>
            <a:ext cx="328320" cy="328320"/>
          </a:xfrm>
          <a:prstGeom prst="ellipse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98" name="TextBox 32"/>
          <p:cNvSpPr/>
          <p:nvPr/>
        </p:nvSpPr>
        <p:spPr>
          <a:xfrm>
            <a:off x="8961120" y="3986640"/>
            <a:ext cx="25596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Less overfitting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99" name="TextBox 33"/>
          <p:cNvSpPr/>
          <p:nvPr/>
        </p:nvSpPr>
        <p:spPr>
          <a:xfrm>
            <a:off x="8961120" y="4316040"/>
            <a:ext cx="2559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bfd3ee"/>
                </a:solidFill>
                <a:latin typeface="Calibri"/>
                <a:ea typeface="DejaVu Sans"/>
              </a:rPr>
              <a:t>smaller train-validation gap than Random Forest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00" name="Oval 34"/>
          <p:cNvSpPr/>
          <p:nvPr/>
        </p:nvSpPr>
        <p:spPr>
          <a:xfrm>
            <a:off x="8503920" y="4837320"/>
            <a:ext cx="328320" cy="328320"/>
          </a:xfrm>
          <a:prstGeom prst="ellipse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4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01" name="TextBox 35"/>
          <p:cNvSpPr/>
          <p:nvPr/>
        </p:nvSpPr>
        <p:spPr>
          <a:xfrm>
            <a:off x="8961120" y="4791600"/>
            <a:ext cx="25596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Fast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02" name="TextBox 36"/>
          <p:cNvSpPr/>
          <p:nvPr/>
        </p:nvSpPr>
        <p:spPr>
          <a:xfrm>
            <a:off x="8961120" y="5120640"/>
            <a:ext cx="25596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bfd3ee"/>
                </a:solidFill>
                <a:latin typeface="Calibri"/>
                <a:ea typeface="DejaVu Sans"/>
              </a:rPr>
              <a:t>0.29 s to train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Box 1"/>
          <p:cNvSpPr/>
          <p:nvPr/>
        </p:nvSpPr>
        <p:spPr>
          <a:xfrm>
            <a:off x="54864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PROBLEM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04" name="Rectangle 2"/>
          <p:cNvSpPr/>
          <p:nvPr/>
        </p:nvSpPr>
        <p:spPr>
          <a:xfrm>
            <a:off x="59436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5" name="TextBox 3"/>
          <p:cNvSpPr/>
          <p:nvPr/>
        </p:nvSpPr>
        <p:spPr>
          <a:xfrm>
            <a:off x="1634760" y="255960"/>
            <a:ext cx="7048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DATA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06" name="Rectangle 4"/>
          <p:cNvSpPr/>
          <p:nvPr/>
        </p:nvSpPr>
        <p:spPr>
          <a:xfrm>
            <a:off x="1680480" y="530280"/>
            <a:ext cx="56772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7" name="TextBox 5"/>
          <p:cNvSpPr/>
          <p:nvPr/>
        </p:nvSpPr>
        <p:spPr>
          <a:xfrm>
            <a:off x="2431800" y="255960"/>
            <a:ext cx="801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a78d6"/>
                </a:solidFill>
                <a:latin typeface="Calibri"/>
                <a:ea typeface="DejaVu Sans"/>
              </a:rPr>
              <a:t>MODEL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08" name="Rectangle 6"/>
          <p:cNvSpPr/>
          <p:nvPr/>
        </p:nvSpPr>
        <p:spPr>
          <a:xfrm>
            <a:off x="2477520" y="530280"/>
            <a:ext cx="664200" cy="4500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9" name="TextBox 7"/>
          <p:cNvSpPr/>
          <p:nvPr/>
        </p:nvSpPr>
        <p:spPr>
          <a:xfrm>
            <a:off x="3324960" y="255960"/>
            <a:ext cx="8974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SYSTEM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10" name="Rectangle 8"/>
          <p:cNvSpPr/>
          <p:nvPr/>
        </p:nvSpPr>
        <p:spPr>
          <a:xfrm>
            <a:off x="3370680" y="530280"/>
            <a:ext cx="76032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1" name="TextBox 9"/>
          <p:cNvSpPr/>
          <p:nvPr/>
        </p:nvSpPr>
        <p:spPr>
          <a:xfrm>
            <a:off x="431496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COPILOT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12" name="Rectangle 10"/>
          <p:cNvSpPr/>
          <p:nvPr/>
        </p:nvSpPr>
        <p:spPr>
          <a:xfrm>
            <a:off x="436068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3" name="TextBox 11"/>
          <p:cNvSpPr/>
          <p:nvPr/>
        </p:nvSpPr>
        <p:spPr>
          <a:xfrm>
            <a:off x="5401080" y="255960"/>
            <a:ext cx="801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MLOPS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14" name="Rectangle 12"/>
          <p:cNvSpPr/>
          <p:nvPr/>
        </p:nvSpPr>
        <p:spPr>
          <a:xfrm>
            <a:off x="5446800" y="530280"/>
            <a:ext cx="6642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5" name="TextBox 13"/>
          <p:cNvSpPr/>
          <p:nvPr/>
        </p:nvSpPr>
        <p:spPr>
          <a:xfrm>
            <a:off x="629424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OUTLOOK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16" name="Rectangle 14"/>
          <p:cNvSpPr/>
          <p:nvPr/>
        </p:nvSpPr>
        <p:spPr>
          <a:xfrm>
            <a:off x="633996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7" name="TextBox 15"/>
          <p:cNvSpPr/>
          <p:nvPr/>
        </p:nvSpPr>
        <p:spPr>
          <a:xfrm>
            <a:off x="548640" y="809280"/>
            <a:ext cx="1106352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0f233f"/>
                </a:solidFill>
                <a:latin typeface="Calibri"/>
                <a:ea typeface="DejaVu Sans"/>
              </a:rPr>
              <a:t>Choosing the threshold and the final test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18" name="Rounded Rectangle 16"/>
          <p:cNvSpPr/>
          <p:nvPr/>
        </p:nvSpPr>
        <p:spPr>
          <a:xfrm>
            <a:off x="548640" y="5870520"/>
            <a:ext cx="11093760" cy="547920"/>
          </a:xfrm>
          <a:prstGeom prst="roundRect">
            <a:avLst>
              <a:gd name="adj" fmla="val 15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9" name="Rectangle 17"/>
          <p:cNvSpPr/>
          <p:nvPr/>
        </p:nvSpPr>
        <p:spPr>
          <a:xfrm>
            <a:off x="548640" y="5870520"/>
            <a:ext cx="109080" cy="54792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0" name="TextBox 18"/>
          <p:cNvSpPr/>
          <p:nvPr/>
        </p:nvSpPr>
        <p:spPr>
          <a:xfrm>
            <a:off x="868680" y="6012360"/>
            <a:ext cx="105451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Recall-first: 84% of truly late orders are caught on unseen test data.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21" name="TextBox 19"/>
          <p:cNvSpPr/>
          <p:nvPr/>
        </p:nvSpPr>
        <p:spPr>
          <a:xfrm>
            <a:off x="548640" y="6473880"/>
            <a:ext cx="36568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LogiGuard AI  |  Elham Rouzban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22" name="TextBox 20"/>
          <p:cNvSpPr/>
          <p:nvPr/>
        </p:nvSpPr>
        <p:spPr>
          <a:xfrm>
            <a:off x="10728720" y="6473880"/>
            <a:ext cx="9136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7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23" name="TextBox 21"/>
          <p:cNvSpPr/>
          <p:nvPr/>
        </p:nvSpPr>
        <p:spPr>
          <a:xfrm>
            <a:off x="548640" y="1554480"/>
            <a:ext cx="58514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f233f"/>
                </a:solidFill>
                <a:latin typeface="Calibri"/>
                <a:ea typeface="DejaVu Sans"/>
              </a:rPr>
              <a:t>Threshold trade-off on validation (number of orders)</a:t>
            </a:r>
            <a:endParaRPr b="0" lang="en-US" sz="1500" spc="-1" strike="noStrike">
              <a:latin typeface="Arial"/>
            </a:endParaRPr>
          </a:p>
        </p:txBody>
      </p:sp>
      <p:graphicFrame>
        <p:nvGraphicFramePr>
          <p:cNvPr id="324" name="Chart 22"/>
          <p:cNvGraphicFramePr/>
          <p:nvPr/>
        </p:nvGraphicFramePr>
        <p:xfrm>
          <a:off x="548640" y="1920240"/>
          <a:ext cx="5851440" cy="3748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25" name="TextBox 23"/>
          <p:cNvSpPr/>
          <p:nvPr/>
        </p:nvSpPr>
        <p:spPr>
          <a:xfrm>
            <a:off x="6766560" y="1554480"/>
            <a:ext cx="49370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f233f"/>
                </a:solidFill>
                <a:latin typeface="Calibri"/>
                <a:ea typeface="DejaVu Sans"/>
              </a:rPr>
              <a:t>Final test set (9,863 orders, used once)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26" name="Rounded Rectangle 24"/>
          <p:cNvSpPr/>
          <p:nvPr/>
        </p:nvSpPr>
        <p:spPr>
          <a:xfrm>
            <a:off x="6766560" y="1965960"/>
            <a:ext cx="1572120" cy="132516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7" name="TextBox 25"/>
          <p:cNvSpPr/>
          <p:nvPr/>
        </p:nvSpPr>
        <p:spPr>
          <a:xfrm>
            <a:off x="6766560" y="2193840"/>
            <a:ext cx="157212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0f233f"/>
                </a:solidFill>
                <a:latin typeface="Calibri"/>
                <a:ea typeface="DejaVu Sans"/>
              </a:rPr>
              <a:t>84%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28" name="TextBox 26"/>
          <p:cNvSpPr/>
          <p:nvPr/>
        </p:nvSpPr>
        <p:spPr>
          <a:xfrm>
            <a:off x="6858000" y="2734920"/>
            <a:ext cx="1389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a64"/>
                </a:solidFill>
                <a:latin typeface="Calibri"/>
                <a:ea typeface="DejaVu Sans"/>
              </a:rPr>
              <a:t>Recall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29" name="Rounded Rectangle 27"/>
          <p:cNvSpPr/>
          <p:nvPr/>
        </p:nvSpPr>
        <p:spPr>
          <a:xfrm>
            <a:off x="8421480" y="1965960"/>
            <a:ext cx="1572120" cy="132516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0" name="TextBox 28"/>
          <p:cNvSpPr/>
          <p:nvPr/>
        </p:nvSpPr>
        <p:spPr>
          <a:xfrm>
            <a:off x="8421480" y="2193840"/>
            <a:ext cx="157212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0f233f"/>
                </a:solidFill>
                <a:latin typeface="Calibri"/>
                <a:ea typeface="DejaVu Sans"/>
              </a:rPr>
              <a:t>64%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31" name="TextBox 29"/>
          <p:cNvSpPr/>
          <p:nvPr/>
        </p:nvSpPr>
        <p:spPr>
          <a:xfrm>
            <a:off x="8512920" y="2734920"/>
            <a:ext cx="1389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a64"/>
                </a:solidFill>
                <a:latin typeface="Calibri"/>
                <a:ea typeface="DejaVu Sans"/>
              </a:rPr>
              <a:t>Precision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32" name="Rounded Rectangle 30"/>
          <p:cNvSpPr/>
          <p:nvPr/>
        </p:nvSpPr>
        <p:spPr>
          <a:xfrm>
            <a:off x="10076760" y="1965960"/>
            <a:ext cx="1572120" cy="132516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3" name="TextBox 31"/>
          <p:cNvSpPr/>
          <p:nvPr/>
        </p:nvSpPr>
        <p:spPr>
          <a:xfrm>
            <a:off x="10076760" y="2193840"/>
            <a:ext cx="157212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0f233f"/>
                </a:solidFill>
                <a:latin typeface="Calibri"/>
                <a:ea typeface="DejaVu Sans"/>
              </a:rPr>
              <a:t>0.775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34" name="TextBox 32"/>
          <p:cNvSpPr/>
          <p:nvPr/>
        </p:nvSpPr>
        <p:spPr>
          <a:xfrm>
            <a:off x="10168200" y="2734920"/>
            <a:ext cx="1389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a64"/>
                </a:solidFill>
                <a:latin typeface="Calibri"/>
                <a:ea typeface="DejaVu Sans"/>
              </a:rPr>
              <a:t>ROC-AUC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35" name="TextBox 33"/>
          <p:cNvSpPr/>
          <p:nvPr/>
        </p:nvSpPr>
        <p:spPr>
          <a:xfrm>
            <a:off x="6766560" y="3474720"/>
            <a:ext cx="49370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0f233f"/>
                </a:solidFill>
                <a:latin typeface="Calibri"/>
                <a:ea typeface="DejaVu Sans"/>
              </a:rPr>
              <a:t>Test confusion matrix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36" name="Rounded Rectangle 34"/>
          <p:cNvSpPr/>
          <p:nvPr/>
        </p:nvSpPr>
        <p:spPr>
          <a:xfrm>
            <a:off x="6766560" y="3840480"/>
            <a:ext cx="2422440" cy="840600"/>
          </a:xfrm>
          <a:prstGeom prst="roundRect">
            <a:avLst>
              <a:gd name="adj" fmla="val 10000"/>
            </a:avLst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7" name="TextBox 35"/>
          <p:cNvSpPr/>
          <p:nvPr/>
        </p:nvSpPr>
        <p:spPr>
          <a:xfrm>
            <a:off x="6903720" y="4090320"/>
            <a:ext cx="105084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DejaVu Sans"/>
              </a:rPr>
              <a:t>4,563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38" name="TextBox 36"/>
          <p:cNvSpPr/>
          <p:nvPr/>
        </p:nvSpPr>
        <p:spPr>
          <a:xfrm>
            <a:off x="7909560" y="4159080"/>
            <a:ext cx="123372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bfd3ee"/>
                </a:solidFill>
                <a:latin typeface="Calibri"/>
                <a:ea typeface="DejaVu Sans"/>
              </a:rPr>
              <a:t>late orders caught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39" name="Rounded Rectangle 37"/>
          <p:cNvSpPr/>
          <p:nvPr/>
        </p:nvSpPr>
        <p:spPr>
          <a:xfrm>
            <a:off x="9253800" y="3840480"/>
            <a:ext cx="2422440" cy="8406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0" name="TextBox 38"/>
          <p:cNvSpPr/>
          <p:nvPr/>
        </p:nvSpPr>
        <p:spPr>
          <a:xfrm>
            <a:off x="9390960" y="4090320"/>
            <a:ext cx="105084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f233f"/>
                </a:solidFill>
                <a:latin typeface="Calibri"/>
                <a:ea typeface="DejaVu Sans"/>
              </a:rPr>
              <a:t>867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41" name="TextBox 39"/>
          <p:cNvSpPr/>
          <p:nvPr/>
        </p:nvSpPr>
        <p:spPr>
          <a:xfrm>
            <a:off x="10396800" y="4159080"/>
            <a:ext cx="123372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55a64"/>
                </a:solidFill>
                <a:latin typeface="Calibri"/>
                <a:ea typeface="DejaVu Sans"/>
              </a:rPr>
              <a:t>late orders missed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42" name="Rounded Rectangle 40"/>
          <p:cNvSpPr/>
          <p:nvPr/>
        </p:nvSpPr>
        <p:spPr>
          <a:xfrm>
            <a:off x="6766560" y="4754880"/>
            <a:ext cx="2422440" cy="8406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3" name="TextBox 41"/>
          <p:cNvSpPr/>
          <p:nvPr/>
        </p:nvSpPr>
        <p:spPr>
          <a:xfrm>
            <a:off x="6903720" y="5004720"/>
            <a:ext cx="105084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f233f"/>
                </a:solidFill>
                <a:latin typeface="Calibri"/>
                <a:ea typeface="DejaVu Sans"/>
              </a:rPr>
              <a:t>2,560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44" name="TextBox 42"/>
          <p:cNvSpPr/>
          <p:nvPr/>
        </p:nvSpPr>
        <p:spPr>
          <a:xfrm>
            <a:off x="7909560" y="5073480"/>
            <a:ext cx="123372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55a64"/>
                </a:solidFill>
                <a:latin typeface="Calibri"/>
                <a:ea typeface="DejaVu Sans"/>
              </a:rPr>
              <a:t>false alarms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45" name="Rounded Rectangle 43"/>
          <p:cNvSpPr/>
          <p:nvPr/>
        </p:nvSpPr>
        <p:spPr>
          <a:xfrm>
            <a:off x="9253800" y="4754880"/>
            <a:ext cx="2422440" cy="8406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6" name="TextBox 44"/>
          <p:cNvSpPr/>
          <p:nvPr/>
        </p:nvSpPr>
        <p:spPr>
          <a:xfrm>
            <a:off x="9390960" y="5004720"/>
            <a:ext cx="105084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f233f"/>
                </a:solidFill>
                <a:latin typeface="Calibri"/>
                <a:ea typeface="DejaVu Sans"/>
              </a:rPr>
              <a:t>1,873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47" name="TextBox 45"/>
          <p:cNvSpPr/>
          <p:nvPr/>
        </p:nvSpPr>
        <p:spPr>
          <a:xfrm>
            <a:off x="10396800" y="5073480"/>
            <a:ext cx="123372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55a64"/>
                </a:solidFill>
                <a:latin typeface="Calibri"/>
                <a:ea typeface="DejaVu Sans"/>
              </a:rPr>
              <a:t>on time, correct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TextBox 1"/>
          <p:cNvSpPr/>
          <p:nvPr/>
        </p:nvSpPr>
        <p:spPr>
          <a:xfrm>
            <a:off x="54864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PROBLEM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49" name="Rectangle 2"/>
          <p:cNvSpPr/>
          <p:nvPr/>
        </p:nvSpPr>
        <p:spPr>
          <a:xfrm>
            <a:off x="59436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0" name="TextBox 3"/>
          <p:cNvSpPr/>
          <p:nvPr/>
        </p:nvSpPr>
        <p:spPr>
          <a:xfrm>
            <a:off x="1634760" y="255960"/>
            <a:ext cx="7048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DATA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51" name="Rectangle 4"/>
          <p:cNvSpPr/>
          <p:nvPr/>
        </p:nvSpPr>
        <p:spPr>
          <a:xfrm>
            <a:off x="1680480" y="530280"/>
            <a:ext cx="56772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2" name="TextBox 5"/>
          <p:cNvSpPr/>
          <p:nvPr/>
        </p:nvSpPr>
        <p:spPr>
          <a:xfrm>
            <a:off x="2431800" y="255960"/>
            <a:ext cx="801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MODEL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53" name="Rectangle 6"/>
          <p:cNvSpPr/>
          <p:nvPr/>
        </p:nvSpPr>
        <p:spPr>
          <a:xfrm>
            <a:off x="2477520" y="530280"/>
            <a:ext cx="6642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4" name="TextBox 7"/>
          <p:cNvSpPr/>
          <p:nvPr/>
        </p:nvSpPr>
        <p:spPr>
          <a:xfrm>
            <a:off x="3324960" y="255960"/>
            <a:ext cx="8974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a78d6"/>
                </a:solidFill>
                <a:latin typeface="Calibri"/>
                <a:ea typeface="DejaVu Sans"/>
              </a:rPr>
              <a:t>SYSTEM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55" name="Rectangle 8"/>
          <p:cNvSpPr/>
          <p:nvPr/>
        </p:nvSpPr>
        <p:spPr>
          <a:xfrm>
            <a:off x="3370680" y="530280"/>
            <a:ext cx="760320" cy="4500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6" name="TextBox 9"/>
          <p:cNvSpPr/>
          <p:nvPr/>
        </p:nvSpPr>
        <p:spPr>
          <a:xfrm>
            <a:off x="431496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COPILOT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57" name="Rectangle 10"/>
          <p:cNvSpPr/>
          <p:nvPr/>
        </p:nvSpPr>
        <p:spPr>
          <a:xfrm>
            <a:off x="436068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8" name="TextBox 11"/>
          <p:cNvSpPr/>
          <p:nvPr/>
        </p:nvSpPr>
        <p:spPr>
          <a:xfrm>
            <a:off x="5401080" y="255960"/>
            <a:ext cx="801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MLOPS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59" name="Rectangle 12"/>
          <p:cNvSpPr/>
          <p:nvPr/>
        </p:nvSpPr>
        <p:spPr>
          <a:xfrm>
            <a:off x="5446800" y="530280"/>
            <a:ext cx="6642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0" name="TextBox 13"/>
          <p:cNvSpPr/>
          <p:nvPr/>
        </p:nvSpPr>
        <p:spPr>
          <a:xfrm>
            <a:off x="629424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OUTLOOK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61" name="Rectangle 14"/>
          <p:cNvSpPr/>
          <p:nvPr/>
        </p:nvSpPr>
        <p:spPr>
          <a:xfrm>
            <a:off x="633996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2" name="TextBox 15"/>
          <p:cNvSpPr/>
          <p:nvPr/>
        </p:nvSpPr>
        <p:spPr>
          <a:xfrm>
            <a:off x="548640" y="809280"/>
            <a:ext cx="1106352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0f233f"/>
                </a:solidFill>
                <a:latin typeface="Calibri"/>
                <a:ea typeface="DejaVu Sans"/>
              </a:rPr>
              <a:t>System architecture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63" name="Rounded Rectangle 16"/>
          <p:cNvSpPr/>
          <p:nvPr/>
        </p:nvSpPr>
        <p:spPr>
          <a:xfrm>
            <a:off x="548640" y="5870520"/>
            <a:ext cx="11093760" cy="547920"/>
          </a:xfrm>
          <a:prstGeom prst="roundRect">
            <a:avLst>
              <a:gd name="adj" fmla="val 15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4" name="Rectangle 17"/>
          <p:cNvSpPr/>
          <p:nvPr/>
        </p:nvSpPr>
        <p:spPr>
          <a:xfrm>
            <a:off x="548640" y="5870520"/>
            <a:ext cx="109080" cy="54792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5" name="TextBox 18"/>
          <p:cNvSpPr/>
          <p:nvPr/>
        </p:nvSpPr>
        <p:spPr>
          <a:xfrm>
            <a:off x="868680" y="6012360"/>
            <a:ext cx="105451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One command (docker compose up) starts the full system: five connected services.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66" name="TextBox 19"/>
          <p:cNvSpPr/>
          <p:nvPr/>
        </p:nvSpPr>
        <p:spPr>
          <a:xfrm>
            <a:off x="548640" y="6473880"/>
            <a:ext cx="36568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LogiGuard AI  |  Elham Rouzban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67" name="TextBox 20"/>
          <p:cNvSpPr/>
          <p:nvPr/>
        </p:nvSpPr>
        <p:spPr>
          <a:xfrm>
            <a:off x="10728720" y="6473880"/>
            <a:ext cx="9136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8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68" name="TextBox 21"/>
          <p:cNvSpPr/>
          <p:nvPr/>
        </p:nvSpPr>
        <p:spPr>
          <a:xfrm>
            <a:off x="548640" y="1554480"/>
            <a:ext cx="274248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a8f98"/>
                </a:solidFill>
                <a:latin typeface="Calibri"/>
                <a:ea typeface="DejaVu Sans"/>
              </a:rPr>
              <a:t>OPERATOR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69" name="Rounded Rectangle 22"/>
          <p:cNvSpPr/>
          <p:nvPr/>
        </p:nvSpPr>
        <p:spPr>
          <a:xfrm>
            <a:off x="548640" y="1874520"/>
            <a:ext cx="3016800" cy="210240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0" name="TextBox 23"/>
          <p:cNvSpPr/>
          <p:nvPr/>
        </p:nvSpPr>
        <p:spPr>
          <a:xfrm>
            <a:off x="731520" y="2011680"/>
            <a:ext cx="2651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f233f"/>
                </a:solidFill>
                <a:latin typeface="Calibri"/>
                <a:ea typeface="DejaVu Sans"/>
              </a:rPr>
              <a:t>Streamlit UI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71" name="TextBox 24"/>
          <p:cNvSpPr/>
          <p:nvPr/>
        </p:nvSpPr>
        <p:spPr>
          <a:xfrm>
            <a:off x="731520" y="2423160"/>
            <a:ext cx="265104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Risk dashboard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Order details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New raw order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Copilot chat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72" name="TextBox 25"/>
          <p:cNvSpPr/>
          <p:nvPr/>
        </p:nvSpPr>
        <p:spPr>
          <a:xfrm>
            <a:off x="731520" y="3593520"/>
            <a:ext cx="265104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2a78d6"/>
                </a:solidFill>
                <a:latin typeface="Calibri"/>
                <a:ea typeface="DejaVu Sans"/>
              </a:rPr>
              <a:t>port 8501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73" name="Right Arrow 26"/>
          <p:cNvSpPr/>
          <p:nvPr/>
        </p:nvSpPr>
        <p:spPr>
          <a:xfrm>
            <a:off x="3657600" y="2788920"/>
            <a:ext cx="45648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a8f9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4" name="Rounded Rectangle 27"/>
          <p:cNvSpPr/>
          <p:nvPr/>
        </p:nvSpPr>
        <p:spPr>
          <a:xfrm>
            <a:off x="4206240" y="1874520"/>
            <a:ext cx="3656880" cy="2102400"/>
          </a:xfrm>
          <a:prstGeom prst="roundRect">
            <a:avLst>
              <a:gd name="adj" fmla="val 8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5" name="TextBox 28"/>
          <p:cNvSpPr/>
          <p:nvPr/>
        </p:nvSpPr>
        <p:spPr>
          <a:xfrm>
            <a:off x="4389120" y="2011680"/>
            <a:ext cx="3291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FastAPI service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76" name="TextBox 29"/>
          <p:cNvSpPr/>
          <p:nvPr/>
        </p:nvSpPr>
        <p:spPr>
          <a:xfrm>
            <a:off x="4389120" y="2423160"/>
            <a:ext cx="3291120" cy="6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bfd3ee"/>
                </a:solidFill>
                <a:latin typeface="Calibri"/>
                <a:ea typeface="DejaVu Sans"/>
              </a:rPr>
              <a:t>/predict  •  /predict/raw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bfd3ee"/>
                </a:solidFill>
                <a:latin typeface="Calibri"/>
                <a:ea typeface="DejaVu Sans"/>
              </a:rPr>
              <a:t>/shipments  •  /copilot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bfd3ee"/>
                </a:solidFill>
                <a:latin typeface="Calibri"/>
                <a:ea typeface="DejaVu Sans"/>
              </a:rPr>
              <a:t>/health  •  /metrics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77" name="TextBox 30"/>
          <p:cNvSpPr/>
          <p:nvPr/>
        </p:nvSpPr>
        <p:spPr>
          <a:xfrm>
            <a:off x="4389120" y="3593520"/>
            <a:ext cx="32911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bfd3ee"/>
                </a:solidFill>
                <a:latin typeface="Calibri"/>
                <a:ea typeface="DejaVu Sans"/>
              </a:rPr>
              <a:t>port 8000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78" name="Right Arrow 31"/>
          <p:cNvSpPr/>
          <p:nvPr/>
        </p:nvSpPr>
        <p:spPr>
          <a:xfrm>
            <a:off x="7955280" y="2788920"/>
            <a:ext cx="45648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a8f9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9" name="Rounded Rectangle 32"/>
          <p:cNvSpPr/>
          <p:nvPr/>
        </p:nvSpPr>
        <p:spPr>
          <a:xfrm>
            <a:off x="8503920" y="1874520"/>
            <a:ext cx="3153960" cy="210240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0" name="TextBox 33"/>
          <p:cNvSpPr/>
          <p:nvPr/>
        </p:nvSpPr>
        <p:spPr>
          <a:xfrm>
            <a:off x="8686800" y="2011680"/>
            <a:ext cx="2788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f233f"/>
                </a:solidFill>
                <a:latin typeface="Calibri"/>
                <a:ea typeface="DejaVu Sans"/>
              </a:rPr>
              <a:t>PostgreSQL 17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81" name="TextBox 34"/>
          <p:cNvSpPr/>
          <p:nvPr/>
        </p:nvSpPr>
        <p:spPr>
          <a:xfrm>
            <a:off x="8686800" y="2423160"/>
            <a:ext cx="2788200" cy="6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raw_orders (JSON)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orders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predictions + model version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82" name="TextBox 35"/>
          <p:cNvSpPr/>
          <p:nvPr/>
        </p:nvSpPr>
        <p:spPr>
          <a:xfrm>
            <a:off x="8686800" y="3593520"/>
            <a:ext cx="278820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2a78d6"/>
                </a:solidFill>
                <a:latin typeface="Calibri"/>
                <a:ea typeface="DejaVu Sans"/>
              </a:rPr>
              <a:t>port 5433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83" name="Down Arrow 36"/>
          <p:cNvSpPr/>
          <p:nvPr/>
        </p:nvSpPr>
        <p:spPr>
          <a:xfrm>
            <a:off x="4892040" y="4041720"/>
            <a:ext cx="273600" cy="291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8a8f9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4" name="Down Arrow 37"/>
          <p:cNvSpPr/>
          <p:nvPr/>
        </p:nvSpPr>
        <p:spPr>
          <a:xfrm>
            <a:off x="6903720" y="4041720"/>
            <a:ext cx="273600" cy="291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8a8f9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5" name="Rounded Rectangle 38"/>
          <p:cNvSpPr/>
          <p:nvPr/>
        </p:nvSpPr>
        <p:spPr>
          <a:xfrm>
            <a:off x="4206240" y="4434840"/>
            <a:ext cx="1782360" cy="11880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6" name="TextBox 39"/>
          <p:cNvSpPr/>
          <p:nvPr/>
        </p:nvSpPr>
        <p:spPr>
          <a:xfrm>
            <a:off x="4251960" y="4526280"/>
            <a:ext cx="16909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f233f"/>
                </a:solidFill>
                <a:latin typeface="Calibri"/>
                <a:ea typeface="DejaVu Sans"/>
              </a:rPr>
              <a:t>ML model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87" name="TextBox 40"/>
          <p:cNvSpPr/>
          <p:nvPr/>
        </p:nvSpPr>
        <p:spPr>
          <a:xfrm>
            <a:off x="4251960" y="4892040"/>
            <a:ext cx="16909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XGBoost +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preprocessor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88" name="Rounded Rectangle 41"/>
          <p:cNvSpPr/>
          <p:nvPr/>
        </p:nvSpPr>
        <p:spPr>
          <a:xfrm>
            <a:off x="6080760" y="4434840"/>
            <a:ext cx="1782360" cy="11880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9" name="TextBox 42"/>
          <p:cNvSpPr/>
          <p:nvPr/>
        </p:nvSpPr>
        <p:spPr>
          <a:xfrm>
            <a:off x="6126480" y="4526280"/>
            <a:ext cx="16909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f233f"/>
                </a:solidFill>
                <a:latin typeface="Calibri"/>
                <a:ea typeface="DejaVu Sans"/>
              </a:rPr>
              <a:t>AI Copilot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90" name="TextBox 43"/>
          <p:cNvSpPr/>
          <p:nvPr/>
        </p:nvSpPr>
        <p:spPr>
          <a:xfrm>
            <a:off x="6126480" y="4892040"/>
            <a:ext cx="16909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3 tools +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Gemini LLM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1" name="TextBox 44"/>
          <p:cNvSpPr/>
          <p:nvPr/>
        </p:nvSpPr>
        <p:spPr>
          <a:xfrm>
            <a:off x="8503920" y="4114800"/>
            <a:ext cx="315396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a8f98"/>
                </a:solidFill>
                <a:latin typeface="Calibri"/>
                <a:ea typeface="DejaVu Sans"/>
              </a:rPr>
              <a:t>MONITORING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92" name="Rounded Rectangle 45"/>
          <p:cNvSpPr/>
          <p:nvPr/>
        </p:nvSpPr>
        <p:spPr>
          <a:xfrm>
            <a:off x="8503920" y="4434840"/>
            <a:ext cx="1535400" cy="11880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3" name="TextBox 46"/>
          <p:cNvSpPr/>
          <p:nvPr/>
        </p:nvSpPr>
        <p:spPr>
          <a:xfrm>
            <a:off x="8522280" y="4526280"/>
            <a:ext cx="14990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f233f"/>
                </a:solidFill>
                <a:latin typeface="Calibri"/>
                <a:ea typeface="DejaVu Sans"/>
              </a:rPr>
              <a:t>Prometheus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94" name="TextBox 47"/>
          <p:cNvSpPr/>
          <p:nvPr/>
        </p:nvSpPr>
        <p:spPr>
          <a:xfrm>
            <a:off x="8522280" y="4892040"/>
            <a:ext cx="149904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55a64"/>
                </a:solidFill>
                <a:latin typeface="Calibri"/>
                <a:ea typeface="DejaVu Sans"/>
              </a:rPr>
              <a:t>metrics every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55a64"/>
                </a:solidFill>
                <a:latin typeface="Calibri"/>
                <a:ea typeface="DejaVu Sans"/>
              </a:rPr>
              <a:t>15 s  •  9090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95" name="Rounded Rectangle 48"/>
          <p:cNvSpPr/>
          <p:nvPr/>
        </p:nvSpPr>
        <p:spPr>
          <a:xfrm>
            <a:off x="10122480" y="4434840"/>
            <a:ext cx="1535400" cy="11880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6" name="TextBox 49"/>
          <p:cNvSpPr/>
          <p:nvPr/>
        </p:nvSpPr>
        <p:spPr>
          <a:xfrm>
            <a:off x="10140840" y="4526280"/>
            <a:ext cx="14990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f233f"/>
                </a:solidFill>
                <a:latin typeface="Calibri"/>
                <a:ea typeface="DejaVu Sans"/>
              </a:rPr>
              <a:t>Grafana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97" name="TextBox 50"/>
          <p:cNvSpPr/>
          <p:nvPr/>
        </p:nvSpPr>
        <p:spPr>
          <a:xfrm>
            <a:off x="10140840" y="4892040"/>
            <a:ext cx="149904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55a64"/>
                </a:solidFill>
                <a:latin typeface="Calibri"/>
                <a:ea typeface="DejaVu Sans"/>
              </a:rPr>
              <a:t>dashboards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55a64"/>
                </a:solidFill>
                <a:latin typeface="Calibri"/>
                <a:ea typeface="DejaVu Sans"/>
              </a:rPr>
              <a:t>port 3000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98" name="TextBox 51"/>
          <p:cNvSpPr/>
          <p:nvPr/>
        </p:nvSpPr>
        <p:spPr>
          <a:xfrm>
            <a:off x="548640" y="4206240"/>
            <a:ext cx="301680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300" spc="-1" strike="noStrike">
                <a:solidFill>
                  <a:srgbClr val="555a64"/>
                </a:solidFill>
                <a:latin typeface="Calibri"/>
                <a:ea typeface="DejaVu Sans"/>
              </a:rPr>
              <a:t>Every prediction is stored with its model version and threshold, so each result is traceable.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TextBox 1"/>
          <p:cNvSpPr/>
          <p:nvPr/>
        </p:nvSpPr>
        <p:spPr>
          <a:xfrm>
            <a:off x="54864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PROBLEM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00" name="Rectangle 2"/>
          <p:cNvSpPr/>
          <p:nvPr/>
        </p:nvSpPr>
        <p:spPr>
          <a:xfrm>
            <a:off x="59436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1" name="TextBox 3"/>
          <p:cNvSpPr/>
          <p:nvPr/>
        </p:nvSpPr>
        <p:spPr>
          <a:xfrm>
            <a:off x="1634760" y="255960"/>
            <a:ext cx="7048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DATA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02" name="Rectangle 4"/>
          <p:cNvSpPr/>
          <p:nvPr/>
        </p:nvSpPr>
        <p:spPr>
          <a:xfrm>
            <a:off x="1680480" y="530280"/>
            <a:ext cx="56772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3" name="TextBox 5"/>
          <p:cNvSpPr/>
          <p:nvPr/>
        </p:nvSpPr>
        <p:spPr>
          <a:xfrm>
            <a:off x="2431800" y="255960"/>
            <a:ext cx="801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MODEL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04" name="Rectangle 6"/>
          <p:cNvSpPr/>
          <p:nvPr/>
        </p:nvSpPr>
        <p:spPr>
          <a:xfrm>
            <a:off x="2477520" y="530280"/>
            <a:ext cx="6642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5" name="TextBox 7"/>
          <p:cNvSpPr/>
          <p:nvPr/>
        </p:nvSpPr>
        <p:spPr>
          <a:xfrm>
            <a:off x="3324960" y="255960"/>
            <a:ext cx="8974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SYSTEM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06" name="Rectangle 8"/>
          <p:cNvSpPr/>
          <p:nvPr/>
        </p:nvSpPr>
        <p:spPr>
          <a:xfrm>
            <a:off x="3370680" y="530280"/>
            <a:ext cx="76032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7" name="TextBox 9"/>
          <p:cNvSpPr/>
          <p:nvPr/>
        </p:nvSpPr>
        <p:spPr>
          <a:xfrm>
            <a:off x="431496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a78d6"/>
                </a:solidFill>
                <a:latin typeface="Calibri"/>
                <a:ea typeface="DejaVu Sans"/>
              </a:rPr>
              <a:t>COPILOT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08" name="Rectangle 10"/>
          <p:cNvSpPr/>
          <p:nvPr/>
        </p:nvSpPr>
        <p:spPr>
          <a:xfrm>
            <a:off x="4360680" y="530280"/>
            <a:ext cx="856800" cy="4500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9" name="TextBox 11"/>
          <p:cNvSpPr/>
          <p:nvPr/>
        </p:nvSpPr>
        <p:spPr>
          <a:xfrm>
            <a:off x="5401080" y="255960"/>
            <a:ext cx="801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MLOPS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10" name="Rectangle 12"/>
          <p:cNvSpPr/>
          <p:nvPr/>
        </p:nvSpPr>
        <p:spPr>
          <a:xfrm>
            <a:off x="5446800" y="530280"/>
            <a:ext cx="6642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1" name="TextBox 13"/>
          <p:cNvSpPr/>
          <p:nvPr/>
        </p:nvSpPr>
        <p:spPr>
          <a:xfrm>
            <a:off x="629424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OUTLOOK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12" name="Rectangle 14"/>
          <p:cNvSpPr/>
          <p:nvPr/>
        </p:nvSpPr>
        <p:spPr>
          <a:xfrm>
            <a:off x="633996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3" name="TextBox 15"/>
          <p:cNvSpPr/>
          <p:nvPr/>
        </p:nvSpPr>
        <p:spPr>
          <a:xfrm>
            <a:off x="548640" y="809280"/>
            <a:ext cx="1106352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0f233f"/>
                </a:solidFill>
                <a:latin typeface="Calibri"/>
                <a:ea typeface="DejaVu Sans"/>
              </a:rPr>
              <a:t>Operations Copilot: grounded and read-only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14" name="Rounded Rectangle 16"/>
          <p:cNvSpPr/>
          <p:nvPr/>
        </p:nvSpPr>
        <p:spPr>
          <a:xfrm>
            <a:off x="548640" y="5870520"/>
            <a:ext cx="11093760" cy="547920"/>
          </a:xfrm>
          <a:prstGeom prst="roundRect">
            <a:avLst>
              <a:gd name="adj" fmla="val 15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5" name="Rectangle 17"/>
          <p:cNvSpPr/>
          <p:nvPr/>
        </p:nvSpPr>
        <p:spPr>
          <a:xfrm>
            <a:off x="548640" y="5870520"/>
            <a:ext cx="109080" cy="54792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6" name="TextBox 18"/>
          <p:cNvSpPr/>
          <p:nvPr/>
        </p:nvSpPr>
        <p:spPr>
          <a:xfrm>
            <a:off x="868680" y="6012360"/>
            <a:ext cx="105451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The ML model predicts. The LLM only explains evidence that has already been checked.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17" name="TextBox 19"/>
          <p:cNvSpPr/>
          <p:nvPr/>
        </p:nvSpPr>
        <p:spPr>
          <a:xfrm>
            <a:off x="548640" y="6473880"/>
            <a:ext cx="36568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LogiGuard AI  |  Elham Rouzban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18" name="TextBox 20"/>
          <p:cNvSpPr/>
          <p:nvPr/>
        </p:nvSpPr>
        <p:spPr>
          <a:xfrm>
            <a:off x="10728720" y="6473880"/>
            <a:ext cx="9136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9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19" name="Rounded Rectangle 21"/>
          <p:cNvSpPr/>
          <p:nvPr/>
        </p:nvSpPr>
        <p:spPr>
          <a:xfrm>
            <a:off x="548640" y="1645920"/>
            <a:ext cx="1919520" cy="141660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0" name="TextBox 22"/>
          <p:cNvSpPr/>
          <p:nvPr/>
        </p:nvSpPr>
        <p:spPr>
          <a:xfrm>
            <a:off x="640080" y="1755720"/>
            <a:ext cx="17366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f233f"/>
                </a:solidFill>
                <a:latin typeface="Calibri"/>
                <a:ea typeface="DejaVu Sans"/>
              </a:rPr>
              <a:t>Operator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21" name="TextBox 23"/>
          <p:cNvSpPr/>
          <p:nvPr/>
        </p:nvSpPr>
        <p:spPr>
          <a:xfrm>
            <a:off x="685800" y="2194560"/>
            <a:ext cx="16452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chooses an order and an action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22" name="Right Arrow 24"/>
          <p:cNvSpPr/>
          <p:nvPr/>
        </p:nvSpPr>
        <p:spPr>
          <a:xfrm>
            <a:off x="2496240" y="2221920"/>
            <a:ext cx="31032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a8f9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3" name="Rounded Rectangle 25"/>
          <p:cNvSpPr/>
          <p:nvPr/>
        </p:nvSpPr>
        <p:spPr>
          <a:xfrm>
            <a:off x="2834640" y="1645920"/>
            <a:ext cx="1919520" cy="141660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4" name="TextBox 26"/>
          <p:cNvSpPr/>
          <p:nvPr/>
        </p:nvSpPr>
        <p:spPr>
          <a:xfrm>
            <a:off x="2926080" y="1755720"/>
            <a:ext cx="17366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f233f"/>
                </a:solidFill>
                <a:latin typeface="Calibri"/>
                <a:ea typeface="DejaVu Sans"/>
              </a:rPr>
              <a:t>Approved tool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25" name="TextBox 27"/>
          <p:cNvSpPr/>
          <p:nvPr/>
        </p:nvSpPr>
        <p:spPr>
          <a:xfrm>
            <a:off x="2971800" y="2194560"/>
            <a:ext cx="1645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reads the database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26" name="Right Arrow 28"/>
          <p:cNvSpPr/>
          <p:nvPr/>
        </p:nvSpPr>
        <p:spPr>
          <a:xfrm>
            <a:off x="4782240" y="2221920"/>
            <a:ext cx="31032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a8f9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7" name="Rounded Rectangle 29"/>
          <p:cNvSpPr/>
          <p:nvPr/>
        </p:nvSpPr>
        <p:spPr>
          <a:xfrm>
            <a:off x="5120640" y="1645920"/>
            <a:ext cx="1919520" cy="1416600"/>
          </a:xfrm>
          <a:prstGeom prst="roundRect">
            <a:avLst>
              <a:gd name="adj" fmla="val 8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8" name="TextBox 30"/>
          <p:cNvSpPr/>
          <p:nvPr/>
        </p:nvSpPr>
        <p:spPr>
          <a:xfrm>
            <a:off x="5212080" y="1755720"/>
            <a:ext cx="17366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Validator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29" name="TextBox 31"/>
          <p:cNvSpPr/>
          <p:nvPr/>
        </p:nvSpPr>
        <p:spPr>
          <a:xfrm>
            <a:off x="5257800" y="2194560"/>
            <a:ext cx="1645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bfd3ee"/>
                </a:solidFill>
                <a:latin typeface="Calibri"/>
                <a:ea typeface="DejaVu Sans"/>
              </a:rPr>
              <a:t>checks the evidence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30" name="Right Arrow 32"/>
          <p:cNvSpPr/>
          <p:nvPr/>
        </p:nvSpPr>
        <p:spPr>
          <a:xfrm>
            <a:off x="7068240" y="2221920"/>
            <a:ext cx="31032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a8f9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1" name="Rounded Rectangle 33"/>
          <p:cNvSpPr/>
          <p:nvPr/>
        </p:nvSpPr>
        <p:spPr>
          <a:xfrm>
            <a:off x="7406640" y="1645920"/>
            <a:ext cx="1919520" cy="141660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2" name="TextBox 34"/>
          <p:cNvSpPr/>
          <p:nvPr/>
        </p:nvSpPr>
        <p:spPr>
          <a:xfrm>
            <a:off x="7498080" y="1755720"/>
            <a:ext cx="17366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f233f"/>
                </a:solidFill>
                <a:latin typeface="Calibri"/>
                <a:ea typeface="DejaVu Sans"/>
              </a:rPr>
              <a:t>Gemini LLM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33" name="TextBox 35"/>
          <p:cNvSpPr/>
          <p:nvPr/>
        </p:nvSpPr>
        <p:spPr>
          <a:xfrm>
            <a:off x="7543800" y="2194560"/>
            <a:ext cx="16452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writes a plain-language answer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34" name="Right Arrow 36"/>
          <p:cNvSpPr/>
          <p:nvPr/>
        </p:nvSpPr>
        <p:spPr>
          <a:xfrm>
            <a:off x="9354240" y="2221920"/>
            <a:ext cx="31032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a8f9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5" name="Rounded Rectangle 37"/>
          <p:cNvSpPr/>
          <p:nvPr/>
        </p:nvSpPr>
        <p:spPr>
          <a:xfrm>
            <a:off x="9692640" y="1645920"/>
            <a:ext cx="1919520" cy="141660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6" name="TextBox 38"/>
          <p:cNvSpPr/>
          <p:nvPr/>
        </p:nvSpPr>
        <p:spPr>
          <a:xfrm>
            <a:off x="9784080" y="1755720"/>
            <a:ext cx="17366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f233f"/>
                </a:solidFill>
                <a:latin typeface="Calibri"/>
                <a:ea typeface="DejaVu Sans"/>
              </a:rPr>
              <a:t>Operator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37" name="TextBox 39"/>
          <p:cNvSpPr/>
          <p:nvPr/>
        </p:nvSpPr>
        <p:spPr>
          <a:xfrm>
            <a:off x="9829800" y="2194560"/>
            <a:ext cx="1645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makes the decision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38" name="TextBox 40"/>
          <p:cNvSpPr/>
          <p:nvPr/>
        </p:nvSpPr>
        <p:spPr>
          <a:xfrm>
            <a:off x="548640" y="3291840"/>
            <a:ext cx="54856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f233f"/>
                </a:solidFill>
                <a:latin typeface="Calibri"/>
                <a:ea typeface="DejaVu Sans"/>
              </a:rPr>
              <a:t>Exactly three read-only tools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39" name="Rounded Rectangle 41"/>
          <p:cNvSpPr/>
          <p:nvPr/>
        </p:nvSpPr>
        <p:spPr>
          <a:xfrm>
            <a:off x="548640" y="3703320"/>
            <a:ext cx="5485680" cy="60264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0" name="TextBox 42"/>
          <p:cNvSpPr/>
          <p:nvPr/>
        </p:nvSpPr>
        <p:spPr>
          <a:xfrm>
            <a:off x="731520" y="3887640"/>
            <a:ext cx="237672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a78d6"/>
                </a:solidFill>
                <a:latin typeface="Calibri"/>
                <a:ea typeface="DejaVu Sans"/>
              </a:rPr>
              <a:t>get_prediction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41" name="TextBox 43"/>
          <p:cNvSpPr/>
          <p:nvPr/>
        </p:nvSpPr>
        <p:spPr>
          <a:xfrm>
            <a:off x="3063240" y="3895560"/>
            <a:ext cx="28796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saved risk score and risk level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42" name="Rounded Rectangle 44"/>
          <p:cNvSpPr/>
          <p:nvPr/>
        </p:nvSpPr>
        <p:spPr>
          <a:xfrm>
            <a:off x="548640" y="4398120"/>
            <a:ext cx="5485680" cy="60264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3" name="TextBox 45"/>
          <p:cNvSpPr/>
          <p:nvPr/>
        </p:nvSpPr>
        <p:spPr>
          <a:xfrm>
            <a:off x="731520" y="4582440"/>
            <a:ext cx="237672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a78d6"/>
                </a:solidFill>
                <a:latin typeface="Calibri"/>
                <a:ea typeface="DejaVu Sans"/>
              </a:rPr>
              <a:t>get_shipment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44" name="TextBox 46"/>
          <p:cNvSpPr/>
          <p:nvPr/>
        </p:nvSpPr>
        <p:spPr>
          <a:xfrm>
            <a:off x="3063240" y="4590360"/>
            <a:ext cx="28796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order details together with the prediction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45" name="Rounded Rectangle 47"/>
          <p:cNvSpPr/>
          <p:nvPr/>
        </p:nvSpPr>
        <p:spPr>
          <a:xfrm>
            <a:off x="548640" y="5093280"/>
            <a:ext cx="5485680" cy="60264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6" name="TextBox 48"/>
          <p:cNvSpPr/>
          <p:nvPr/>
        </p:nvSpPr>
        <p:spPr>
          <a:xfrm>
            <a:off x="731520" y="5277600"/>
            <a:ext cx="237672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a78d6"/>
                </a:solidFill>
                <a:latin typeface="Calibri"/>
                <a:ea typeface="DejaVu Sans"/>
              </a:rPr>
              <a:t>find_similar_shipments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47" name="TextBox 49"/>
          <p:cNvSpPr/>
          <p:nvPr/>
        </p:nvSpPr>
        <p:spPr>
          <a:xfrm>
            <a:off x="3063240" y="5194080"/>
            <a:ext cx="28796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same country, region and shipping mode, closest risk (top 5)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48" name="TextBox 50"/>
          <p:cNvSpPr/>
          <p:nvPr/>
        </p:nvSpPr>
        <p:spPr>
          <a:xfrm>
            <a:off x="6400800" y="3291840"/>
            <a:ext cx="530280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f233f"/>
                </a:solidFill>
                <a:latin typeface="Calibri"/>
                <a:ea typeface="DejaVu Sans"/>
              </a:rPr>
              <a:t>Guardrails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49" name="TextBox 51"/>
          <p:cNvSpPr/>
          <p:nvPr/>
        </p:nvSpPr>
        <p:spPr>
          <a:xfrm>
            <a:off x="6400800" y="3703320"/>
            <a:ext cx="5257080" cy="11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400" spc="-1" strike="noStrike">
                <a:solidFill>
                  <a:srgbClr val="2a78d6"/>
                </a:solidFill>
                <a:latin typeface="Calibri"/>
                <a:ea typeface="DejaVu Sans"/>
              </a:rPr>
              <a:t>•  </a:t>
            </a:r>
            <a:r>
              <a:rPr b="1" lang="en-US" sz="1400" spc="-1" strike="noStrike">
                <a:solidFill>
                  <a:srgbClr val="0f233f"/>
                </a:solidFill>
                <a:latin typeface="Calibri"/>
                <a:ea typeface="DejaVu Sans"/>
              </a:rPr>
              <a:t>Evidence only:</a:t>
            </a:r>
            <a:r>
              <a:rPr b="0" lang="en-US" sz="1400" spc="-1" strike="noStrike">
                <a:solidFill>
                  <a:srgbClr val="141414"/>
                </a:solidFill>
                <a:latin typeface="Calibri"/>
                <a:ea typeface="DejaVu Sans"/>
              </a:rPr>
              <a:t> the prompt forbids inventing facts or changing numbers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400" spc="-1" strike="noStrike">
                <a:solidFill>
                  <a:srgbClr val="2a78d6"/>
                </a:solidFill>
                <a:latin typeface="Calibri"/>
                <a:ea typeface="DejaVu Sans"/>
              </a:rPr>
              <a:t>•  </a:t>
            </a:r>
            <a:r>
              <a:rPr b="1" lang="en-US" sz="1400" spc="-1" strike="noStrike">
                <a:solidFill>
                  <a:srgbClr val="0f233f"/>
                </a:solidFill>
                <a:latin typeface="Calibri"/>
                <a:ea typeface="DejaVu Sans"/>
              </a:rPr>
              <a:t>Fail-safe:</a:t>
            </a:r>
            <a:r>
              <a:rPr b="0" lang="en-US" sz="1400" spc="-1" strike="noStrike">
                <a:solidFill>
                  <a:srgbClr val="141414"/>
                </a:solidFill>
                <a:latin typeface="Calibri"/>
                <a:ea typeface="DejaVu Sans"/>
              </a:rPr>
              <a:t> if Gemini is unavailable, the checked evidence is still shown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400" spc="-1" strike="noStrike">
                <a:solidFill>
                  <a:srgbClr val="2a78d6"/>
                </a:solidFill>
                <a:latin typeface="Calibri"/>
                <a:ea typeface="DejaVu Sans"/>
              </a:rPr>
              <a:t>•  </a:t>
            </a:r>
            <a:r>
              <a:rPr b="1" lang="en-US" sz="1400" spc="-1" strike="noStrike">
                <a:solidFill>
                  <a:srgbClr val="0f233f"/>
                </a:solidFill>
                <a:latin typeface="Calibri"/>
                <a:ea typeface="DejaVu Sans"/>
              </a:rPr>
              <a:t>No actions:</a:t>
            </a:r>
            <a:r>
              <a:rPr b="0" lang="en-US" sz="1400" spc="-1" strike="noStrike">
                <a:solidFill>
                  <a:srgbClr val="141414"/>
                </a:solidFill>
                <a:latin typeface="Calibri"/>
                <a:ea typeface="DejaVu Sans"/>
              </a:rPr>
              <a:t> cannot edit data, contact carriers or change routes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TextBox 1"/>
          <p:cNvSpPr/>
          <p:nvPr/>
        </p:nvSpPr>
        <p:spPr>
          <a:xfrm>
            <a:off x="54864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PROBLEM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51" name="Rectangle 2"/>
          <p:cNvSpPr/>
          <p:nvPr/>
        </p:nvSpPr>
        <p:spPr>
          <a:xfrm>
            <a:off x="59436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2" name="TextBox 3"/>
          <p:cNvSpPr/>
          <p:nvPr/>
        </p:nvSpPr>
        <p:spPr>
          <a:xfrm>
            <a:off x="1634760" y="255960"/>
            <a:ext cx="7048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DATA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53" name="Rectangle 4"/>
          <p:cNvSpPr/>
          <p:nvPr/>
        </p:nvSpPr>
        <p:spPr>
          <a:xfrm>
            <a:off x="1680480" y="530280"/>
            <a:ext cx="56772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4" name="TextBox 5"/>
          <p:cNvSpPr/>
          <p:nvPr/>
        </p:nvSpPr>
        <p:spPr>
          <a:xfrm>
            <a:off x="2431800" y="255960"/>
            <a:ext cx="801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MODEL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55" name="Rectangle 6"/>
          <p:cNvSpPr/>
          <p:nvPr/>
        </p:nvSpPr>
        <p:spPr>
          <a:xfrm>
            <a:off x="2477520" y="530280"/>
            <a:ext cx="6642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6" name="TextBox 7"/>
          <p:cNvSpPr/>
          <p:nvPr/>
        </p:nvSpPr>
        <p:spPr>
          <a:xfrm>
            <a:off x="3324960" y="255960"/>
            <a:ext cx="8974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SYSTEM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57" name="Rectangle 8"/>
          <p:cNvSpPr/>
          <p:nvPr/>
        </p:nvSpPr>
        <p:spPr>
          <a:xfrm>
            <a:off x="3370680" y="530280"/>
            <a:ext cx="76032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8" name="TextBox 9"/>
          <p:cNvSpPr/>
          <p:nvPr/>
        </p:nvSpPr>
        <p:spPr>
          <a:xfrm>
            <a:off x="431496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COPILOT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59" name="Rectangle 10"/>
          <p:cNvSpPr/>
          <p:nvPr/>
        </p:nvSpPr>
        <p:spPr>
          <a:xfrm>
            <a:off x="436068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0" name="TextBox 11"/>
          <p:cNvSpPr/>
          <p:nvPr/>
        </p:nvSpPr>
        <p:spPr>
          <a:xfrm>
            <a:off x="5401080" y="255960"/>
            <a:ext cx="801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a78d6"/>
                </a:solidFill>
                <a:latin typeface="Calibri"/>
                <a:ea typeface="DejaVu Sans"/>
              </a:rPr>
              <a:t>MLOPS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61" name="Rectangle 12"/>
          <p:cNvSpPr/>
          <p:nvPr/>
        </p:nvSpPr>
        <p:spPr>
          <a:xfrm>
            <a:off x="5446800" y="530280"/>
            <a:ext cx="664200" cy="4500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2" name="TextBox 13"/>
          <p:cNvSpPr/>
          <p:nvPr/>
        </p:nvSpPr>
        <p:spPr>
          <a:xfrm>
            <a:off x="629424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OUTLOOK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63" name="Rectangle 14"/>
          <p:cNvSpPr/>
          <p:nvPr/>
        </p:nvSpPr>
        <p:spPr>
          <a:xfrm>
            <a:off x="633996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4" name="TextBox 15"/>
          <p:cNvSpPr/>
          <p:nvPr/>
        </p:nvSpPr>
        <p:spPr>
          <a:xfrm>
            <a:off x="548640" y="809280"/>
            <a:ext cx="1106352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0f233f"/>
                </a:solidFill>
                <a:latin typeface="Calibri"/>
                <a:ea typeface="DejaVu Sans"/>
              </a:rPr>
              <a:t>Model lifecycle: from training to production, safely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65" name="Rounded Rectangle 16"/>
          <p:cNvSpPr/>
          <p:nvPr/>
        </p:nvSpPr>
        <p:spPr>
          <a:xfrm>
            <a:off x="548640" y="5870520"/>
            <a:ext cx="11093760" cy="547920"/>
          </a:xfrm>
          <a:prstGeom prst="roundRect">
            <a:avLst>
              <a:gd name="adj" fmla="val 15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6" name="Rectangle 17"/>
          <p:cNvSpPr/>
          <p:nvPr/>
        </p:nvSpPr>
        <p:spPr>
          <a:xfrm>
            <a:off x="548640" y="5870520"/>
            <a:ext cx="109080" cy="54792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7" name="TextBox 18"/>
          <p:cNvSpPr/>
          <p:nvPr/>
        </p:nvSpPr>
        <p:spPr>
          <a:xfrm>
            <a:off x="868680" y="6012360"/>
            <a:ext cx="105451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A new model never goes live by accident: promotion is a deliberate human step.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68" name="TextBox 19"/>
          <p:cNvSpPr/>
          <p:nvPr/>
        </p:nvSpPr>
        <p:spPr>
          <a:xfrm>
            <a:off x="548640" y="6473880"/>
            <a:ext cx="36568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LogiGuard AI  |  Elham Rouzban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69" name="TextBox 20"/>
          <p:cNvSpPr/>
          <p:nvPr/>
        </p:nvSpPr>
        <p:spPr>
          <a:xfrm>
            <a:off x="10728720" y="6473880"/>
            <a:ext cx="9136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10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70" name="Rounded Rectangle 21"/>
          <p:cNvSpPr/>
          <p:nvPr/>
        </p:nvSpPr>
        <p:spPr>
          <a:xfrm>
            <a:off x="548640" y="1645920"/>
            <a:ext cx="1919520" cy="173664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1" name="Oval 22"/>
          <p:cNvSpPr/>
          <p:nvPr/>
        </p:nvSpPr>
        <p:spPr>
          <a:xfrm>
            <a:off x="1280160" y="1783080"/>
            <a:ext cx="456480" cy="456480"/>
          </a:xfrm>
          <a:prstGeom prst="ellipse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72" name="TextBox 23"/>
          <p:cNvSpPr/>
          <p:nvPr/>
        </p:nvSpPr>
        <p:spPr>
          <a:xfrm>
            <a:off x="640080" y="2304360"/>
            <a:ext cx="17366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f233f"/>
                </a:solidFill>
                <a:latin typeface="Calibri"/>
                <a:ea typeface="DejaVu Sans"/>
              </a:rPr>
              <a:t>Prepare data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73" name="TextBox 24"/>
          <p:cNvSpPr/>
          <p:nvPr/>
        </p:nvSpPr>
        <p:spPr>
          <a:xfrm>
            <a:off x="658440" y="2697480"/>
            <a:ext cx="16999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55a64"/>
                </a:solidFill>
                <a:latin typeface="Calibri"/>
                <a:ea typeface="DejaVu Sans"/>
              </a:rPr>
              <a:t>validate, clean, aggregate → new timestamped dataset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74" name="Right Arrow 25"/>
          <p:cNvSpPr/>
          <p:nvPr/>
        </p:nvSpPr>
        <p:spPr>
          <a:xfrm>
            <a:off x="2496240" y="2377440"/>
            <a:ext cx="31032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a8f9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5" name="Rounded Rectangle 26"/>
          <p:cNvSpPr/>
          <p:nvPr/>
        </p:nvSpPr>
        <p:spPr>
          <a:xfrm>
            <a:off x="2834640" y="1645920"/>
            <a:ext cx="1919520" cy="173664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6" name="Oval 27"/>
          <p:cNvSpPr/>
          <p:nvPr/>
        </p:nvSpPr>
        <p:spPr>
          <a:xfrm>
            <a:off x="3566160" y="1783080"/>
            <a:ext cx="456480" cy="456480"/>
          </a:xfrm>
          <a:prstGeom prst="ellipse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77" name="TextBox 28"/>
          <p:cNvSpPr/>
          <p:nvPr/>
        </p:nvSpPr>
        <p:spPr>
          <a:xfrm>
            <a:off x="2926080" y="2304360"/>
            <a:ext cx="17366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f233f"/>
                </a:solidFill>
                <a:latin typeface="Calibri"/>
                <a:ea typeface="DejaVu Sans"/>
              </a:rPr>
              <a:t>Train candidate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78" name="TextBox 29"/>
          <p:cNvSpPr/>
          <p:nvPr/>
        </p:nvSpPr>
        <p:spPr>
          <a:xfrm>
            <a:off x="2944440" y="2697480"/>
            <a:ext cx="169992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55a64"/>
                </a:solidFill>
                <a:latin typeface="Calibri"/>
                <a:ea typeface="DejaVu Sans"/>
              </a:rPr>
              <a:t>new versioned bundle: model + preprocessor + metadata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79" name="Right Arrow 30"/>
          <p:cNvSpPr/>
          <p:nvPr/>
        </p:nvSpPr>
        <p:spPr>
          <a:xfrm>
            <a:off x="4782240" y="2377440"/>
            <a:ext cx="31032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a8f9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0" name="Rounded Rectangle 31"/>
          <p:cNvSpPr/>
          <p:nvPr/>
        </p:nvSpPr>
        <p:spPr>
          <a:xfrm>
            <a:off x="5120640" y="1645920"/>
            <a:ext cx="1919520" cy="1736640"/>
          </a:xfrm>
          <a:prstGeom prst="roundRect">
            <a:avLst>
              <a:gd name="adj" fmla="val 8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1" name="Oval 32"/>
          <p:cNvSpPr/>
          <p:nvPr/>
        </p:nvSpPr>
        <p:spPr>
          <a:xfrm>
            <a:off x="5852160" y="1783080"/>
            <a:ext cx="456480" cy="456480"/>
          </a:xfrm>
          <a:prstGeom prst="ellipse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82" name="TextBox 33"/>
          <p:cNvSpPr/>
          <p:nvPr/>
        </p:nvSpPr>
        <p:spPr>
          <a:xfrm>
            <a:off x="5212080" y="2304360"/>
            <a:ext cx="17366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Quality gate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83" name="TextBox 34"/>
          <p:cNvSpPr/>
          <p:nvPr/>
        </p:nvSpPr>
        <p:spPr>
          <a:xfrm>
            <a:off x="5230440" y="2697480"/>
            <a:ext cx="16999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bfd3ee"/>
                </a:solidFill>
                <a:latin typeface="Calibri"/>
                <a:ea typeface="DejaVu Sans"/>
              </a:rPr>
              <a:t>validation ROC-AUC ≥ 0.75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84" name="Right Arrow 35"/>
          <p:cNvSpPr/>
          <p:nvPr/>
        </p:nvSpPr>
        <p:spPr>
          <a:xfrm>
            <a:off x="7068240" y="2377440"/>
            <a:ext cx="31032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a8f9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5" name="Rounded Rectangle 36"/>
          <p:cNvSpPr/>
          <p:nvPr/>
        </p:nvSpPr>
        <p:spPr>
          <a:xfrm>
            <a:off x="7406640" y="1645920"/>
            <a:ext cx="1919520" cy="173664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6" name="Oval 37"/>
          <p:cNvSpPr/>
          <p:nvPr/>
        </p:nvSpPr>
        <p:spPr>
          <a:xfrm>
            <a:off x="8138160" y="1783080"/>
            <a:ext cx="456480" cy="456480"/>
          </a:xfrm>
          <a:prstGeom prst="ellipse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4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87" name="TextBox 38"/>
          <p:cNvSpPr/>
          <p:nvPr/>
        </p:nvSpPr>
        <p:spPr>
          <a:xfrm>
            <a:off x="7498080" y="2304360"/>
            <a:ext cx="17366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f233f"/>
                </a:solidFill>
                <a:latin typeface="Calibri"/>
                <a:ea typeface="DejaVu Sans"/>
              </a:rPr>
              <a:t>Manual promotion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88" name="TextBox 39"/>
          <p:cNvSpPr/>
          <p:nvPr/>
        </p:nvSpPr>
        <p:spPr>
          <a:xfrm>
            <a:off x="7516440" y="2697480"/>
            <a:ext cx="16999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55a64"/>
                </a:solidFill>
                <a:latin typeface="Calibri"/>
                <a:ea typeface="DejaVu Sans"/>
              </a:rPr>
              <a:t>a person selects the run ID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89" name="Right Arrow 40"/>
          <p:cNvSpPr/>
          <p:nvPr/>
        </p:nvSpPr>
        <p:spPr>
          <a:xfrm>
            <a:off x="9354240" y="2377440"/>
            <a:ext cx="31032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a8f9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0" name="Rounded Rectangle 41"/>
          <p:cNvSpPr/>
          <p:nvPr/>
        </p:nvSpPr>
        <p:spPr>
          <a:xfrm>
            <a:off x="9692640" y="1645920"/>
            <a:ext cx="1919520" cy="173664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1" name="Oval 42"/>
          <p:cNvSpPr/>
          <p:nvPr/>
        </p:nvSpPr>
        <p:spPr>
          <a:xfrm>
            <a:off x="10424160" y="1783080"/>
            <a:ext cx="456480" cy="456480"/>
          </a:xfrm>
          <a:prstGeom prst="ellipse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5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2" name="TextBox 43"/>
          <p:cNvSpPr/>
          <p:nvPr/>
        </p:nvSpPr>
        <p:spPr>
          <a:xfrm>
            <a:off x="9784080" y="2304360"/>
            <a:ext cx="17366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f233f"/>
                </a:solidFill>
                <a:latin typeface="Calibri"/>
                <a:ea typeface="DejaVu Sans"/>
              </a:rPr>
              <a:t>Active model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93" name="TextBox 44"/>
          <p:cNvSpPr/>
          <p:nvPr/>
        </p:nvSpPr>
        <p:spPr>
          <a:xfrm>
            <a:off x="9802440" y="2697480"/>
            <a:ext cx="16999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55a64"/>
                </a:solidFill>
                <a:latin typeface="Calibri"/>
                <a:ea typeface="DejaVu Sans"/>
              </a:rPr>
              <a:t>current_model.json → used by the API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94" name="TextBox 45"/>
          <p:cNvSpPr/>
          <p:nvPr/>
        </p:nvSpPr>
        <p:spPr>
          <a:xfrm>
            <a:off x="548640" y="3657600"/>
            <a:ext cx="73144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f233f"/>
                </a:solidFill>
                <a:latin typeface="Calibri"/>
                <a:ea typeface="DejaVu Sans"/>
              </a:rPr>
              <a:t>Versioning: every part is traceable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95" name="Rounded Rectangle 46"/>
          <p:cNvSpPr/>
          <p:nvPr/>
        </p:nvSpPr>
        <p:spPr>
          <a:xfrm>
            <a:off x="548640" y="4069080"/>
            <a:ext cx="3611160" cy="15994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6" name="TextBox 47"/>
          <p:cNvSpPr/>
          <p:nvPr/>
        </p:nvSpPr>
        <p:spPr>
          <a:xfrm>
            <a:off x="777240" y="4187880"/>
            <a:ext cx="137088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2a78d6"/>
                </a:solidFill>
                <a:latin typeface="Calibri"/>
                <a:ea typeface="DejaVu Sans"/>
              </a:rPr>
              <a:t>Git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97" name="TextBox 48"/>
          <p:cNvSpPr/>
          <p:nvPr/>
        </p:nvSpPr>
        <p:spPr>
          <a:xfrm>
            <a:off x="2103120" y="4260960"/>
            <a:ext cx="19195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f233f"/>
                </a:solidFill>
                <a:latin typeface="Calibri"/>
                <a:ea typeface="DejaVu Sans"/>
              </a:rPr>
              <a:t>source code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8" name="TextBox 49"/>
          <p:cNvSpPr/>
          <p:nvPr/>
        </p:nvSpPr>
        <p:spPr>
          <a:xfrm>
            <a:off x="777240" y="4736520"/>
            <a:ext cx="319968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a64"/>
                </a:solidFill>
                <a:latin typeface="Calibri"/>
                <a:ea typeface="DejaVu Sans"/>
              </a:rPr>
              <a:t>every change reviewed through branches and pull requests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99" name="Rounded Rectangle 50"/>
          <p:cNvSpPr/>
          <p:nvPr/>
        </p:nvSpPr>
        <p:spPr>
          <a:xfrm>
            <a:off x="4297680" y="4069080"/>
            <a:ext cx="3611160" cy="15994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0" name="TextBox 51"/>
          <p:cNvSpPr/>
          <p:nvPr/>
        </p:nvSpPr>
        <p:spPr>
          <a:xfrm>
            <a:off x="4526280" y="4187880"/>
            <a:ext cx="137088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2a78d6"/>
                </a:solidFill>
                <a:latin typeface="Calibri"/>
                <a:ea typeface="DejaVu Sans"/>
              </a:rPr>
              <a:t>DVC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501" name="TextBox 52"/>
          <p:cNvSpPr/>
          <p:nvPr/>
        </p:nvSpPr>
        <p:spPr>
          <a:xfrm>
            <a:off x="5852160" y="4260960"/>
            <a:ext cx="19195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f233f"/>
                </a:solidFill>
                <a:latin typeface="Calibri"/>
                <a:ea typeface="DejaVu Sans"/>
              </a:rPr>
              <a:t>dataset version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02" name="TextBox 53"/>
          <p:cNvSpPr/>
          <p:nvPr/>
        </p:nvSpPr>
        <p:spPr>
          <a:xfrm>
            <a:off x="4526280" y="4736520"/>
            <a:ext cx="319968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a64"/>
                </a:solidFill>
                <a:latin typeface="Calibri"/>
                <a:ea typeface="DejaVu Sans"/>
              </a:rPr>
              <a:t>the exact training CSV is tracked by content hash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03" name="Rounded Rectangle 54"/>
          <p:cNvSpPr/>
          <p:nvPr/>
        </p:nvSpPr>
        <p:spPr>
          <a:xfrm>
            <a:off x="8046720" y="4069080"/>
            <a:ext cx="3611160" cy="15994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4" name="TextBox 55"/>
          <p:cNvSpPr/>
          <p:nvPr/>
        </p:nvSpPr>
        <p:spPr>
          <a:xfrm>
            <a:off x="8275320" y="4187880"/>
            <a:ext cx="137088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2a78d6"/>
                </a:solidFill>
                <a:latin typeface="Calibri"/>
                <a:ea typeface="DejaVu Sans"/>
              </a:rPr>
              <a:t>MLflow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505" name="TextBox 56"/>
          <p:cNvSpPr/>
          <p:nvPr/>
        </p:nvSpPr>
        <p:spPr>
          <a:xfrm>
            <a:off x="9601200" y="4260960"/>
            <a:ext cx="19195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f233f"/>
                </a:solidFill>
                <a:latin typeface="Calibri"/>
                <a:ea typeface="DejaVu Sans"/>
              </a:rPr>
              <a:t>experiments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06" name="TextBox 57"/>
          <p:cNvSpPr/>
          <p:nvPr/>
        </p:nvSpPr>
        <p:spPr>
          <a:xfrm>
            <a:off x="8275320" y="4736520"/>
            <a:ext cx="319968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a64"/>
                </a:solidFill>
                <a:latin typeface="Calibri"/>
                <a:ea typeface="DejaVu Sans"/>
              </a:rPr>
              <a:t>hyperparameters, metrics and data provenance recorded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Box 1"/>
          <p:cNvSpPr/>
          <p:nvPr/>
        </p:nvSpPr>
        <p:spPr>
          <a:xfrm>
            <a:off x="54864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PROBLEM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08" name="Rectangle 2"/>
          <p:cNvSpPr/>
          <p:nvPr/>
        </p:nvSpPr>
        <p:spPr>
          <a:xfrm>
            <a:off x="59436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9" name="TextBox 3"/>
          <p:cNvSpPr/>
          <p:nvPr/>
        </p:nvSpPr>
        <p:spPr>
          <a:xfrm>
            <a:off x="1634760" y="255960"/>
            <a:ext cx="7048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DATA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10" name="Rectangle 4"/>
          <p:cNvSpPr/>
          <p:nvPr/>
        </p:nvSpPr>
        <p:spPr>
          <a:xfrm>
            <a:off x="1680480" y="530280"/>
            <a:ext cx="56772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1" name="TextBox 5"/>
          <p:cNvSpPr/>
          <p:nvPr/>
        </p:nvSpPr>
        <p:spPr>
          <a:xfrm>
            <a:off x="2431800" y="255960"/>
            <a:ext cx="801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MODEL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12" name="Rectangle 6"/>
          <p:cNvSpPr/>
          <p:nvPr/>
        </p:nvSpPr>
        <p:spPr>
          <a:xfrm>
            <a:off x="2477520" y="530280"/>
            <a:ext cx="6642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3" name="TextBox 7"/>
          <p:cNvSpPr/>
          <p:nvPr/>
        </p:nvSpPr>
        <p:spPr>
          <a:xfrm>
            <a:off x="3324960" y="255960"/>
            <a:ext cx="8974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SYSTEM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14" name="Rectangle 8"/>
          <p:cNvSpPr/>
          <p:nvPr/>
        </p:nvSpPr>
        <p:spPr>
          <a:xfrm>
            <a:off x="3370680" y="530280"/>
            <a:ext cx="76032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5" name="TextBox 9"/>
          <p:cNvSpPr/>
          <p:nvPr/>
        </p:nvSpPr>
        <p:spPr>
          <a:xfrm>
            <a:off x="431496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COPILOT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16" name="Rectangle 10"/>
          <p:cNvSpPr/>
          <p:nvPr/>
        </p:nvSpPr>
        <p:spPr>
          <a:xfrm>
            <a:off x="436068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7" name="TextBox 11"/>
          <p:cNvSpPr/>
          <p:nvPr/>
        </p:nvSpPr>
        <p:spPr>
          <a:xfrm>
            <a:off x="5401080" y="255960"/>
            <a:ext cx="801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a78d6"/>
                </a:solidFill>
                <a:latin typeface="Calibri"/>
                <a:ea typeface="DejaVu Sans"/>
              </a:rPr>
              <a:t>MLOPS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18" name="Rectangle 12"/>
          <p:cNvSpPr/>
          <p:nvPr/>
        </p:nvSpPr>
        <p:spPr>
          <a:xfrm>
            <a:off x="5446800" y="530280"/>
            <a:ext cx="664200" cy="4500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9" name="TextBox 13"/>
          <p:cNvSpPr/>
          <p:nvPr/>
        </p:nvSpPr>
        <p:spPr>
          <a:xfrm>
            <a:off x="629424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OUTLOOK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20" name="Rectangle 14"/>
          <p:cNvSpPr/>
          <p:nvPr/>
        </p:nvSpPr>
        <p:spPr>
          <a:xfrm>
            <a:off x="633996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1" name="TextBox 15"/>
          <p:cNvSpPr/>
          <p:nvPr/>
        </p:nvSpPr>
        <p:spPr>
          <a:xfrm>
            <a:off x="548640" y="809280"/>
            <a:ext cx="1106352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0f233f"/>
                </a:solidFill>
                <a:latin typeface="Calibri"/>
                <a:ea typeface="DejaVu Sans"/>
              </a:rPr>
              <a:t>Monitoring and quality assurance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22" name="Rounded Rectangle 16"/>
          <p:cNvSpPr/>
          <p:nvPr/>
        </p:nvSpPr>
        <p:spPr>
          <a:xfrm>
            <a:off x="548640" y="5870520"/>
            <a:ext cx="11093760" cy="547920"/>
          </a:xfrm>
          <a:prstGeom prst="roundRect">
            <a:avLst>
              <a:gd name="adj" fmla="val 15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3" name="Rectangle 17"/>
          <p:cNvSpPr/>
          <p:nvPr/>
        </p:nvSpPr>
        <p:spPr>
          <a:xfrm>
            <a:off x="548640" y="5870520"/>
            <a:ext cx="109080" cy="54792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4" name="TextBox 18"/>
          <p:cNvSpPr/>
          <p:nvPr/>
        </p:nvSpPr>
        <p:spPr>
          <a:xfrm>
            <a:off x="868680" y="6012360"/>
            <a:ext cx="105451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33 automated tests pass, and every push is checked automatically by GitHub Actions.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25" name="TextBox 19"/>
          <p:cNvSpPr/>
          <p:nvPr/>
        </p:nvSpPr>
        <p:spPr>
          <a:xfrm>
            <a:off x="548640" y="6473880"/>
            <a:ext cx="36568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LogiGuard AI  |  Elham Rouzban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26" name="TextBox 20"/>
          <p:cNvSpPr/>
          <p:nvPr/>
        </p:nvSpPr>
        <p:spPr>
          <a:xfrm>
            <a:off x="10728720" y="6473880"/>
            <a:ext cx="9136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11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27" name="TextBox 21"/>
          <p:cNvSpPr/>
          <p:nvPr/>
        </p:nvSpPr>
        <p:spPr>
          <a:xfrm>
            <a:off x="548640" y="1554480"/>
            <a:ext cx="54856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0f233f"/>
                </a:solidFill>
                <a:latin typeface="Calibri"/>
                <a:ea typeface="DejaVu Sans"/>
              </a:rPr>
              <a:t>Monitoring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28" name="Rounded Rectangle 22"/>
          <p:cNvSpPr/>
          <p:nvPr/>
        </p:nvSpPr>
        <p:spPr>
          <a:xfrm>
            <a:off x="548640" y="1965960"/>
            <a:ext cx="5394240" cy="82224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9" name="Rectangle 23"/>
          <p:cNvSpPr/>
          <p:nvPr/>
        </p:nvSpPr>
        <p:spPr>
          <a:xfrm>
            <a:off x="548640" y="2103120"/>
            <a:ext cx="54000" cy="54792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0" name="TextBox 24"/>
          <p:cNvSpPr/>
          <p:nvPr/>
        </p:nvSpPr>
        <p:spPr>
          <a:xfrm>
            <a:off x="777240" y="2039040"/>
            <a:ext cx="50284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f233f"/>
                </a:solidFill>
                <a:latin typeface="Calibri"/>
                <a:ea typeface="DejaVu Sans"/>
              </a:rPr>
              <a:t>Prometheus + Grafana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1" name="TextBox 25"/>
          <p:cNvSpPr/>
          <p:nvPr/>
        </p:nvSpPr>
        <p:spPr>
          <a:xfrm>
            <a:off x="777240" y="2377440"/>
            <a:ext cx="50284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traffic, 5xx errors, p95 latency, memory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32" name="Rounded Rectangle 26"/>
          <p:cNvSpPr/>
          <p:nvPr/>
        </p:nvSpPr>
        <p:spPr>
          <a:xfrm>
            <a:off x="548640" y="2880360"/>
            <a:ext cx="5394240" cy="82224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3" name="Rectangle 27"/>
          <p:cNvSpPr/>
          <p:nvPr/>
        </p:nvSpPr>
        <p:spPr>
          <a:xfrm>
            <a:off x="548640" y="3017520"/>
            <a:ext cx="54000" cy="54792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4" name="TextBox 28"/>
          <p:cNvSpPr/>
          <p:nvPr/>
        </p:nvSpPr>
        <p:spPr>
          <a:xfrm>
            <a:off x="777240" y="2953440"/>
            <a:ext cx="50284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f233f"/>
                </a:solidFill>
                <a:latin typeface="Calibri"/>
                <a:ea typeface="DejaVu Sans"/>
              </a:rPr>
              <a:t>Alert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5" name="TextBox 29"/>
          <p:cNvSpPr/>
          <p:nvPr/>
        </p:nvSpPr>
        <p:spPr>
          <a:xfrm>
            <a:off x="777240" y="3291840"/>
            <a:ext cx="50284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LogiGuardAPIDown fires if the API is down for 1 minute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36" name="Rounded Rectangle 30"/>
          <p:cNvSpPr/>
          <p:nvPr/>
        </p:nvSpPr>
        <p:spPr>
          <a:xfrm>
            <a:off x="548640" y="3794760"/>
            <a:ext cx="5394240" cy="82224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7" name="Rectangle 31"/>
          <p:cNvSpPr/>
          <p:nvPr/>
        </p:nvSpPr>
        <p:spPr>
          <a:xfrm>
            <a:off x="548640" y="3931920"/>
            <a:ext cx="54000" cy="54792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8" name="TextBox 32"/>
          <p:cNvSpPr/>
          <p:nvPr/>
        </p:nvSpPr>
        <p:spPr>
          <a:xfrm>
            <a:off x="777240" y="3867840"/>
            <a:ext cx="50284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f233f"/>
                </a:solidFill>
                <a:latin typeface="Calibri"/>
                <a:ea typeface="DejaVu Sans"/>
              </a:rPr>
              <a:t>Evidently drift reports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9" name="TextBox 33"/>
          <p:cNvSpPr/>
          <p:nvPr/>
        </p:nvSpPr>
        <p:spPr>
          <a:xfrm>
            <a:off x="777240" y="4206240"/>
            <a:ext cx="50284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new data and predicted risk vs. training data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40" name="Rounded Rectangle 34"/>
          <p:cNvSpPr/>
          <p:nvPr/>
        </p:nvSpPr>
        <p:spPr>
          <a:xfrm>
            <a:off x="548640" y="4709160"/>
            <a:ext cx="5394240" cy="82224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1" name="Rectangle 35"/>
          <p:cNvSpPr/>
          <p:nvPr/>
        </p:nvSpPr>
        <p:spPr>
          <a:xfrm>
            <a:off x="548640" y="4846320"/>
            <a:ext cx="54000" cy="54792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2" name="TextBox 36"/>
          <p:cNvSpPr/>
          <p:nvPr/>
        </p:nvSpPr>
        <p:spPr>
          <a:xfrm>
            <a:off x="777240" y="4782240"/>
            <a:ext cx="50284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f233f"/>
                </a:solidFill>
                <a:latin typeface="Calibri"/>
                <a:ea typeface="DejaVu Sans"/>
              </a:rPr>
              <a:t>Honest by design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43" name="TextBox 37"/>
          <p:cNvSpPr/>
          <p:nvPr/>
        </p:nvSpPr>
        <p:spPr>
          <a:xfrm>
            <a:off x="777240" y="5120640"/>
            <a:ext cx="50284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fewer than 30 new orders → "insufficient data"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44" name="TextBox 38"/>
          <p:cNvSpPr/>
          <p:nvPr/>
        </p:nvSpPr>
        <p:spPr>
          <a:xfrm>
            <a:off x="6309360" y="1554480"/>
            <a:ext cx="54856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0f233f"/>
                </a:solidFill>
                <a:latin typeface="Calibri"/>
                <a:ea typeface="DejaVu Sans"/>
              </a:rPr>
              <a:t>Quality &amp; CI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45" name="Rounded Rectangle 39"/>
          <p:cNvSpPr/>
          <p:nvPr/>
        </p:nvSpPr>
        <p:spPr>
          <a:xfrm>
            <a:off x="6309360" y="1965960"/>
            <a:ext cx="1690920" cy="127944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6" name="TextBox 40"/>
          <p:cNvSpPr/>
          <p:nvPr/>
        </p:nvSpPr>
        <p:spPr>
          <a:xfrm>
            <a:off x="6309360" y="2150640"/>
            <a:ext cx="169092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0f233f"/>
                </a:solidFill>
                <a:latin typeface="Calibri"/>
                <a:ea typeface="DejaVu Sans"/>
              </a:rPr>
              <a:t>33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547" name="TextBox 41"/>
          <p:cNvSpPr/>
          <p:nvPr/>
        </p:nvSpPr>
        <p:spPr>
          <a:xfrm>
            <a:off x="6400800" y="2708280"/>
            <a:ext cx="15080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a64"/>
                </a:solidFill>
                <a:latin typeface="Calibri"/>
                <a:ea typeface="DejaVu Sans"/>
              </a:rPr>
              <a:t>tests passing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48" name="Rounded Rectangle 42"/>
          <p:cNvSpPr/>
          <p:nvPr/>
        </p:nvSpPr>
        <p:spPr>
          <a:xfrm>
            <a:off x="8092440" y="1965960"/>
            <a:ext cx="1690920" cy="127944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9" name="TextBox 43"/>
          <p:cNvSpPr/>
          <p:nvPr/>
        </p:nvSpPr>
        <p:spPr>
          <a:xfrm>
            <a:off x="8092440" y="2150640"/>
            <a:ext cx="169092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0f233f"/>
                </a:solidFill>
                <a:latin typeface="Calibri"/>
                <a:ea typeface="DejaVu Sans"/>
              </a:rPr>
              <a:t>11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550" name="TextBox 44"/>
          <p:cNvSpPr/>
          <p:nvPr/>
        </p:nvSpPr>
        <p:spPr>
          <a:xfrm>
            <a:off x="8183880" y="2708280"/>
            <a:ext cx="15080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a64"/>
                </a:solidFill>
                <a:latin typeface="Calibri"/>
                <a:ea typeface="DejaVu Sans"/>
              </a:rPr>
              <a:t>test files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51" name="Rounded Rectangle 45"/>
          <p:cNvSpPr/>
          <p:nvPr/>
        </p:nvSpPr>
        <p:spPr>
          <a:xfrm>
            <a:off x="9875520" y="1965960"/>
            <a:ext cx="1782360" cy="127944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2" name="TextBox 46"/>
          <p:cNvSpPr/>
          <p:nvPr/>
        </p:nvSpPr>
        <p:spPr>
          <a:xfrm>
            <a:off x="9875520" y="2196360"/>
            <a:ext cx="178236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f233f"/>
                </a:solidFill>
                <a:latin typeface="Calibri"/>
                <a:ea typeface="DejaVu Sans"/>
              </a:rPr>
              <a:t>Ruff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553" name="TextBox 47"/>
          <p:cNvSpPr/>
          <p:nvPr/>
        </p:nvSpPr>
        <p:spPr>
          <a:xfrm>
            <a:off x="9966960" y="2708280"/>
            <a:ext cx="15994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a64"/>
                </a:solidFill>
                <a:latin typeface="Calibri"/>
                <a:ea typeface="DejaVu Sans"/>
              </a:rPr>
              <a:t>code quality passed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54" name="TextBox 48"/>
          <p:cNvSpPr/>
          <p:nvPr/>
        </p:nvSpPr>
        <p:spPr>
          <a:xfrm>
            <a:off x="6309360" y="3474720"/>
            <a:ext cx="54856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0f233f"/>
                </a:solidFill>
                <a:latin typeface="Calibri"/>
                <a:ea typeface="DejaVu Sans"/>
              </a:rPr>
              <a:t>GitHub Actions pipeline (on every push &amp; pull request)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55" name="Rounded Rectangle 49"/>
          <p:cNvSpPr/>
          <p:nvPr/>
        </p:nvSpPr>
        <p:spPr>
          <a:xfrm>
            <a:off x="6309360" y="3886200"/>
            <a:ext cx="913680" cy="685080"/>
          </a:xfrm>
          <a:prstGeom prst="roundRect">
            <a:avLst>
              <a:gd name="adj" fmla="val 15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6" name="TextBox 50"/>
          <p:cNvSpPr/>
          <p:nvPr/>
        </p:nvSpPr>
        <p:spPr>
          <a:xfrm>
            <a:off x="6309360" y="4127040"/>
            <a:ext cx="91368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0f233f"/>
                </a:solidFill>
                <a:latin typeface="Calibri"/>
                <a:ea typeface="DejaVu Sans"/>
              </a:rPr>
              <a:t>Install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57" name="Rounded Rectangle 51"/>
          <p:cNvSpPr/>
          <p:nvPr/>
        </p:nvSpPr>
        <p:spPr>
          <a:xfrm>
            <a:off x="7260480" y="3886200"/>
            <a:ext cx="913680" cy="685080"/>
          </a:xfrm>
          <a:prstGeom prst="roundRect">
            <a:avLst>
              <a:gd name="adj" fmla="val 15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8" name="TextBox 52"/>
          <p:cNvSpPr/>
          <p:nvPr/>
        </p:nvSpPr>
        <p:spPr>
          <a:xfrm>
            <a:off x="7260480" y="4127040"/>
            <a:ext cx="91368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0f233f"/>
                </a:solidFill>
                <a:latin typeface="Calibri"/>
                <a:ea typeface="DejaVu Sans"/>
              </a:rPr>
              <a:t>Lint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59" name="Rounded Rectangle 53"/>
          <p:cNvSpPr/>
          <p:nvPr/>
        </p:nvSpPr>
        <p:spPr>
          <a:xfrm>
            <a:off x="8211240" y="3886200"/>
            <a:ext cx="1078200" cy="685080"/>
          </a:xfrm>
          <a:prstGeom prst="roundRect">
            <a:avLst>
              <a:gd name="adj" fmla="val 15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0" name="TextBox 54"/>
          <p:cNvSpPr/>
          <p:nvPr/>
        </p:nvSpPr>
        <p:spPr>
          <a:xfrm>
            <a:off x="8211240" y="4127040"/>
            <a:ext cx="10782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0f233f"/>
                </a:solidFill>
                <a:latin typeface="Calibri"/>
                <a:ea typeface="DejaVu Sans"/>
              </a:rPr>
              <a:t>Create test DB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1" name="Rounded Rectangle 55"/>
          <p:cNvSpPr/>
          <p:nvPr/>
        </p:nvSpPr>
        <p:spPr>
          <a:xfrm>
            <a:off x="9326880" y="3886200"/>
            <a:ext cx="1078200" cy="685080"/>
          </a:xfrm>
          <a:prstGeom prst="roundRect">
            <a:avLst>
              <a:gd name="adj" fmla="val 15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2" name="TextBox 56"/>
          <p:cNvSpPr/>
          <p:nvPr/>
        </p:nvSpPr>
        <p:spPr>
          <a:xfrm>
            <a:off x="9326880" y="4127040"/>
            <a:ext cx="10782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Run tests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3" name="Rounded Rectangle 57"/>
          <p:cNvSpPr/>
          <p:nvPr/>
        </p:nvSpPr>
        <p:spPr>
          <a:xfrm>
            <a:off x="10442520" y="3886200"/>
            <a:ext cx="1078200" cy="685080"/>
          </a:xfrm>
          <a:prstGeom prst="roundRect">
            <a:avLst>
              <a:gd name="adj" fmla="val 15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4" name="TextBox 58"/>
          <p:cNvSpPr/>
          <p:nvPr/>
        </p:nvSpPr>
        <p:spPr>
          <a:xfrm>
            <a:off x="10442520" y="4127040"/>
            <a:ext cx="10782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0f233f"/>
                </a:solidFill>
                <a:latin typeface="Calibri"/>
                <a:ea typeface="DejaVu Sans"/>
              </a:rPr>
              <a:t>Docker build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5" name="TextBox 59"/>
          <p:cNvSpPr/>
          <p:nvPr/>
        </p:nvSpPr>
        <p:spPr>
          <a:xfrm>
            <a:off x="6309360" y="4709160"/>
            <a:ext cx="534852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300" spc="-1" strike="noStrike">
                <a:solidFill>
                  <a:srgbClr val="555a64"/>
                </a:solidFill>
                <a:latin typeface="Calibri"/>
                <a:ea typeface="DejaVu Sans"/>
              </a:rPr>
              <a:t>Tests run on a separate PostgreSQL test database, never on the operational data.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TextBox 1"/>
          <p:cNvSpPr/>
          <p:nvPr/>
        </p:nvSpPr>
        <p:spPr>
          <a:xfrm>
            <a:off x="54864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PROBLEM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67" name="Rectangle 2"/>
          <p:cNvSpPr/>
          <p:nvPr/>
        </p:nvSpPr>
        <p:spPr>
          <a:xfrm>
            <a:off x="59436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8" name="TextBox 3"/>
          <p:cNvSpPr/>
          <p:nvPr/>
        </p:nvSpPr>
        <p:spPr>
          <a:xfrm>
            <a:off x="1634760" y="255960"/>
            <a:ext cx="7048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DATA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69" name="Rectangle 4"/>
          <p:cNvSpPr/>
          <p:nvPr/>
        </p:nvSpPr>
        <p:spPr>
          <a:xfrm>
            <a:off x="1680480" y="530280"/>
            <a:ext cx="56772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0" name="TextBox 5"/>
          <p:cNvSpPr/>
          <p:nvPr/>
        </p:nvSpPr>
        <p:spPr>
          <a:xfrm>
            <a:off x="2431800" y="255960"/>
            <a:ext cx="801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MODEL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71" name="Rectangle 6"/>
          <p:cNvSpPr/>
          <p:nvPr/>
        </p:nvSpPr>
        <p:spPr>
          <a:xfrm>
            <a:off x="2477520" y="530280"/>
            <a:ext cx="6642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2" name="TextBox 7"/>
          <p:cNvSpPr/>
          <p:nvPr/>
        </p:nvSpPr>
        <p:spPr>
          <a:xfrm>
            <a:off x="3324960" y="255960"/>
            <a:ext cx="8974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SYSTEM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73" name="Rectangle 8"/>
          <p:cNvSpPr/>
          <p:nvPr/>
        </p:nvSpPr>
        <p:spPr>
          <a:xfrm>
            <a:off x="3370680" y="530280"/>
            <a:ext cx="76032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4" name="TextBox 9"/>
          <p:cNvSpPr/>
          <p:nvPr/>
        </p:nvSpPr>
        <p:spPr>
          <a:xfrm>
            <a:off x="431496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COPILOT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75" name="Rectangle 10"/>
          <p:cNvSpPr/>
          <p:nvPr/>
        </p:nvSpPr>
        <p:spPr>
          <a:xfrm>
            <a:off x="4360680" y="530280"/>
            <a:ext cx="8568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6" name="TextBox 11"/>
          <p:cNvSpPr/>
          <p:nvPr/>
        </p:nvSpPr>
        <p:spPr>
          <a:xfrm>
            <a:off x="5401080" y="255960"/>
            <a:ext cx="801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MLOPS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77" name="Rectangle 12"/>
          <p:cNvSpPr/>
          <p:nvPr/>
        </p:nvSpPr>
        <p:spPr>
          <a:xfrm>
            <a:off x="5446800" y="530280"/>
            <a:ext cx="664200" cy="17640"/>
          </a:xfrm>
          <a:prstGeom prst="rect">
            <a:avLst/>
          </a:prstGeom>
          <a:solidFill>
            <a:srgbClr val="d9dc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8" name="TextBox 13"/>
          <p:cNvSpPr/>
          <p:nvPr/>
        </p:nvSpPr>
        <p:spPr>
          <a:xfrm>
            <a:off x="6294240" y="255960"/>
            <a:ext cx="993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a78d6"/>
                </a:solidFill>
                <a:latin typeface="Calibri"/>
                <a:ea typeface="DejaVu Sans"/>
              </a:rPr>
              <a:t>OUTLOOK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79" name="Rectangle 14"/>
          <p:cNvSpPr/>
          <p:nvPr/>
        </p:nvSpPr>
        <p:spPr>
          <a:xfrm>
            <a:off x="6339960" y="530280"/>
            <a:ext cx="856800" cy="4500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0" name="TextBox 15"/>
          <p:cNvSpPr/>
          <p:nvPr/>
        </p:nvSpPr>
        <p:spPr>
          <a:xfrm>
            <a:off x="548640" y="809280"/>
            <a:ext cx="1106352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0f233f"/>
                </a:solidFill>
                <a:latin typeface="Calibri"/>
                <a:ea typeface="DejaVu Sans"/>
              </a:rPr>
              <a:t>Limitations and next steps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81" name="Rounded Rectangle 16"/>
          <p:cNvSpPr/>
          <p:nvPr/>
        </p:nvSpPr>
        <p:spPr>
          <a:xfrm>
            <a:off x="548640" y="5870520"/>
            <a:ext cx="11093760" cy="547920"/>
          </a:xfrm>
          <a:prstGeom prst="roundRect">
            <a:avLst>
              <a:gd name="adj" fmla="val 15000"/>
            </a:avLst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2" name="Rectangle 17"/>
          <p:cNvSpPr/>
          <p:nvPr/>
        </p:nvSpPr>
        <p:spPr>
          <a:xfrm>
            <a:off x="548640" y="5870520"/>
            <a:ext cx="109080" cy="54792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3" name="TextBox 18"/>
          <p:cNvSpPr/>
          <p:nvPr/>
        </p:nvSpPr>
        <p:spPr>
          <a:xfrm>
            <a:off x="868680" y="6012360"/>
            <a:ext cx="105451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A complete, honest prototype, ready to be validated with real company data.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84" name="TextBox 19"/>
          <p:cNvSpPr/>
          <p:nvPr/>
        </p:nvSpPr>
        <p:spPr>
          <a:xfrm>
            <a:off x="548640" y="6473880"/>
            <a:ext cx="36568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LogiGuard AI  |  Elham Rouzban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85" name="TextBox 20"/>
          <p:cNvSpPr/>
          <p:nvPr/>
        </p:nvSpPr>
        <p:spPr>
          <a:xfrm>
            <a:off x="10728720" y="6473880"/>
            <a:ext cx="9136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8f98"/>
                </a:solidFill>
                <a:latin typeface="Calibri"/>
                <a:ea typeface="DejaVu Sans"/>
              </a:rPr>
              <a:t>12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86" name="TextBox 21"/>
          <p:cNvSpPr/>
          <p:nvPr/>
        </p:nvSpPr>
        <p:spPr>
          <a:xfrm>
            <a:off x="548640" y="1554480"/>
            <a:ext cx="54856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0f233f"/>
                </a:solidFill>
                <a:latin typeface="Calibri"/>
                <a:ea typeface="DejaVu Sans"/>
              </a:rPr>
              <a:t>Honest limitations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87" name="TextBox 22"/>
          <p:cNvSpPr/>
          <p:nvPr/>
        </p:nvSpPr>
        <p:spPr>
          <a:xfrm>
            <a:off x="6355080" y="1554480"/>
            <a:ext cx="54856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2a78d6"/>
                </a:solidFill>
                <a:latin typeface="Calibri"/>
                <a:ea typeface="DejaVu Sans"/>
              </a:rPr>
              <a:t>Next steps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88" name="Rounded Rectangle 23"/>
          <p:cNvSpPr/>
          <p:nvPr/>
        </p:nvSpPr>
        <p:spPr>
          <a:xfrm>
            <a:off x="548640" y="1965960"/>
            <a:ext cx="5348520" cy="86796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9" name="TextBox 24"/>
          <p:cNvSpPr/>
          <p:nvPr/>
        </p:nvSpPr>
        <p:spPr>
          <a:xfrm>
            <a:off x="777240" y="2039040"/>
            <a:ext cx="49370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f233f"/>
                </a:solidFill>
                <a:latin typeface="Calibri"/>
                <a:ea typeface="DejaVu Sans"/>
              </a:rPr>
              <a:t>Historical public data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0" name="TextBox 25"/>
          <p:cNvSpPr/>
          <p:nvPr/>
        </p:nvSpPr>
        <p:spPr>
          <a:xfrm>
            <a:off x="777240" y="2395800"/>
            <a:ext cx="4937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not yet validated on a real company's live shipments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91" name="Right Arrow 26"/>
          <p:cNvSpPr/>
          <p:nvPr/>
        </p:nvSpPr>
        <p:spPr>
          <a:xfrm>
            <a:off x="5961960" y="2267640"/>
            <a:ext cx="32832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2" name="Rounded Rectangle 27"/>
          <p:cNvSpPr/>
          <p:nvPr/>
        </p:nvSpPr>
        <p:spPr>
          <a:xfrm>
            <a:off x="6355080" y="1965960"/>
            <a:ext cx="5302800" cy="867960"/>
          </a:xfrm>
          <a:prstGeom prst="roundRect">
            <a:avLst>
              <a:gd name="adj" fmla="val 10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3" name="TextBox 28"/>
          <p:cNvSpPr/>
          <p:nvPr/>
        </p:nvSpPr>
        <p:spPr>
          <a:xfrm>
            <a:off x="6583680" y="2039040"/>
            <a:ext cx="49370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f233f"/>
                </a:solidFill>
                <a:latin typeface="Calibri"/>
                <a:ea typeface="DejaVu Sans"/>
              </a:rPr>
              <a:t>Validate and retrain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4" name="TextBox 29"/>
          <p:cNvSpPr/>
          <p:nvPr/>
        </p:nvSpPr>
        <p:spPr>
          <a:xfrm>
            <a:off x="6583680" y="2395800"/>
            <a:ext cx="4937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with a real logistics company's data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95" name="Rounded Rectangle 30"/>
          <p:cNvSpPr/>
          <p:nvPr/>
        </p:nvSpPr>
        <p:spPr>
          <a:xfrm>
            <a:off x="548640" y="2926080"/>
            <a:ext cx="5348520" cy="86796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6" name="TextBox 31"/>
          <p:cNvSpPr/>
          <p:nvPr/>
        </p:nvSpPr>
        <p:spPr>
          <a:xfrm>
            <a:off x="777240" y="2999160"/>
            <a:ext cx="49370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f233f"/>
                </a:solidFill>
                <a:latin typeface="Calibri"/>
                <a:ea typeface="DejaVu Sans"/>
              </a:rPr>
              <a:t>No real outcomes yet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7" name="TextBox 32"/>
          <p:cNvSpPr/>
          <p:nvPr/>
        </p:nvSpPr>
        <p:spPr>
          <a:xfrm>
            <a:off x="777240" y="3355920"/>
            <a:ext cx="4937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production accuracy cannot be measured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98" name="Right Arrow 33"/>
          <p:cNvSpPr/>
          <p:nvPr/>
        </p:nvSpPr>
        <p:spPr>
          <a:xfrm>
            <a:off x="5961960" y="3227760"/>
            <a:ext cx="32832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9" name="Rounded Rectangle 34"/>
          <p:cNvSpPr/>
          <p:nvPr/>
        </p:nvSpPr>
        <p:spPr>
          <a:xfrm>
            <a:off x="6355080" y="2926080"/>
            <a:ext cx="5302800" cy="867960"/>
          </a:xfrm>
          <a:prstGeom prst="roundRect">
            <a:avLst>
              <a:gd name="adj" fmla="val 10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0" name="TextBox 35"/>
          <p:cNvSpPr/>
          <p:nvPr/>
        </p:nvSpPr>
        <p:spPr>
          <a:xfrm>
            <a:off x="6583680" y="2999160"/>
            <a:ext cx="49370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f233f"/>
                </a:solidFill>
                <a:latin typeface="Calibri"/>
                <a:ea typeface="DejaVu Sans"/>
              </a:rPr>
              <a:t>Feedback loop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01" name="TextBox 36"/>
          <p:cNvSpPr/>
          <p:nvPr/>
        </p:nvSpPr>
        <p:spPr>
          <a:xfrm>
            <a:off x="6583680" y="3355920"/>
            <a:ext cx="4937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collect actual delivery outcomes to measure true performance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02" name="Rounded Rectangle 37"/>
          <p:cNvSpPr/>
          <p:nvPr/>
        </p:nvSpPr>
        <p:spPr>
          <a:xfrm>
            <a:off x="548640" y="3886200"/>
            <a:ext cx="5348520" cy="86796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3" name="TextBox 38"/>
          <p:cNvSpPr/>
          <p:nvPr/>
        </p:nvSpPr>
        <p:spPr>
          <a:xfrm>
            <a:off x="777240" y="3959280"/>
            <a:ext cx="49370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f233f"/>
                </a:solidFill>
                <a:latin typeface="Calibri"/>
                <a:ea typeface="DejaVu Sans"/>
              </a:rPr>
              <a:t>Local storage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04" name="TextBox 39"/>
          <p:cNvSpPr/>
          <p:nvPr/>
        </p:nvSpPr>
        <p:spPr>
          <a:xfrm>
            <a:off x="777240" y="4316040"/>
            <a:ext cx="4937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DVC data and MLflow history live on one machine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05" name="Right Arrow 40"/>
          <p:cNvSpPr/>
          <p:nvPr/>
        </p:nvSpPr>
        <p:spPr>
          <a:xfrm>
            <a:off x="5961960" y="4187880"/>
            <a:ext cx="32832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6" name="Rounded Rectangle 41"/>
          <p:cNvSpPr/>
          <p:nvPr/>
        </p:nvSpPr>
        <p:spPr>
          <a:xfrm>
            <a:off x="6355080" y="3886200"/>
            <a:ext cx="5302800" cy="867960"/>
          </a:xfrm>
          <a:prstGeom prst="roundRect">
            <a:avLst>
              <a:gd name="adj" fmla="val 10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7" name="TextBox 42"/>
          <p:cNvSpPr/>
          <p:nvPr/>
        </p:nvSpPr>
        <p:spPr>
          <a:xfrm>
            <a:off x="6583680" y="3959280"/>
            <a:ext cx="49370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f233f"/>
                </a:solidFill>
                <a:latin typeface="Calibri"/>
                <a:ea typeface="DejaVu Sans"/>
              </a:rPr>
              <a:t>Shared storage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08" name="TextBox 43"/>
          <p:cNvSpPr/>
          <p:nvPr/>
        </p:nvSpPr>
        <p:spPr>
          <a:xfrm>
            <a:off x="6583680" y="4316040"/>
            <a:ext cx="4937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remote DVC and MLflow server for the team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09" name="Rounded Rectangle 44"/>
          <p:cNvSpPr/>
          <p:nvPr/>
        </p:nvSpPr>
        <p:spPr>
          <a:xfrm>
            <a:off x="548640" y="4846320"/>
            <a:ext cx="5348520" cy="86796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0" name="TextBox 45"/>
          <p:cNvSpPr/>
          <p:nvPr/>
        </p:nvSpPr>
        <p:spPr>
          <a:xfrm>
            <a:off x="777240" y="4919400"/>
            <a:ext cx="49370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f233f"/>
                </a:solidFill>
                <a:latin typeface="Calibri"/>
                <a:ea typeface="DejaVu Sans"/>
              </a:rPr>
              <a:t>Manual monitoring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1" name="TextBox 46"/>
          <p:cNvSpPr/>
          <p:nvPr/>
        </p:nvSpPr>
        <p:spPr>
          <a:xfrm>
            <a:off x="777240" y="5276160"/>
            <a:ext cx="4937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drift reports by hand; alert has no email/Slack yet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12" name="Right Arrow 47"/>
          <p:cNvSpPr/>
          <p:nvPr/>
        </p:nvSpPr>
        <p:spPr>
          <a:xfrm>
            <a:off x="5961960" y="5148000"/>
            <a:ext cx="32832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3" name="Rounded Rectangle 48"/>
          <p:cNvSpPr/>
          <p:nvPr/>
        </p:nvSpPr>
        <p:spPr>
          <a:xfrm>
            <a:off x="6355080" y="4846320"/>
            <a:ext cx="5302800" cy="867960"/>
          </a:xfrm>
          <a:prstGeom prst="roundRect">
            <a:avLst>
              <a:gd name="adj" fmla="val 10000"/>
            </a:avLst>
          </a:prstGeom>
          <a:solidFill>
            <a:srgbClr val="eaf2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4" name="TextBox 49"/>
          <p:cNvSpPr/>
          <p:nvPr/>
        </p:nvSpPr>
        <p:spPr>
          <a:xfrm>
            <a:off x="6583680" y="4919400"/>
            <a:ext cx="49370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f233f"/>
                </a:solidFill>
                <a:latin typeface="Calibri"/>
                <a:ea typeface="DejaVu Sans"/>
              </a:rPr>
              <a:t>Automation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5" name="TextBox 50"/>
          <p:cNvSpPr/>
          <p:nvPr/>
        </p:nvSpPr>
        <p:spPr>
          <a:xfrm>
            <a:off x="6583680" y="5276160"/>
            <a:ext cx="4937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55a64"/>
                </a:solidFill>
                <a:latin typeface="Calibri"/>
                <a:ea typeface="DejaVu Sans"/>
              </a:rPr>
              <a:t>scheduled drift checks and alert notifications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f23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7" name="Rectangle 2"/>
          <p:cNvSpPr/>
          <p:nvPr/>
        </p:nvSpPr>
        <p:spPr>
          <a:xfrm>
            <a:off x="8351280" y="0"/>
            <a:ext cx="3839760" cy="6857280"/>
          </a:xfrm>
          <a:prstGeom prst="rect">
            <a:avLst/>
          </a:prstGeom>
          <a:solidFill>
            <a:srgbClr val="1b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8" name="Rectangle 3"/>
          <p:cNvSpPr/>
          <p:nvPr/>
        </p:nvSpPr>
        <p:spPr>
          <a:xfrm>
            <a:off x="822960" y="1600200"/>
            <a:ext cx="822240" cy="7236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9" name="TextBox 4"/>
          <p:cNvSpPr/>
          <p:nvPr/>
        </p:nvSpPr>
        <p:spPr>
          <a:xfrm>
            <a:off x="822960" y="1783080"/>
            <a:ext cx="758880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6000" spc="-1" strike="noStrike">
                <a:solidFill>
                  <a:srgbClr val="ffffff"/>
                </a:solidFill>
                <a:latin typeface="Calibri"/>
                <a:ea typeface="DejaVu Sans"/>
              </a:rPr>
              <a:t>Thank you!</a:t>
            </a:r>
            <a:endParaRPr b="0" lang="en-US" sz="6000" spc="-1" strike="noStrike">
              <a:latin typeface="Arial"/>
            </a:endParaRPr>
          </a:p>
        </p:txBody>
      </p:sp>
      <p:sp>
        <p:nvSpPr>
          <p:cNvPr id="620" name="TextBox 5"/>
          <p:cNvSpPr/>
          <p:nvPr/>
        </p:nvSpPr>
        <p:spPr>
          <a:xfrm>
            <a:off x="822960" y="2834640"/>
            <a:ext cx="75888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3000" spc="-1" strike="noStrike">
                <a:solidFill>
                  <a:srgbClr val="bfd3ee"/>
                </a:solidFill>
                <a:latin typeface="Calibri"/>
                <a:ea typeface="DejaVu Sans"/>
              </a:rPr>
              <a:t>Questions?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21" name="TextBox 6"/>
          <p:cNvSpPr/>
          <p:nvPr/>
        </p:nvSpPr>
        <p:spPr>
          <a:xfrm>
            <a:off x="822960" y="3977640"/>
            <a:ext cx="74973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From historical data to a risk-ranked, explainable shipment queue,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with the human operator always in control.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22" name="TextBox 7"/>
          <p:cNvSpPr/>
          <p:nvPr/>
        </p:nvSpPr>
        <p:spPr>
          <a:xfrm>
            <a:off x="822960" y="5577840"/>
            <a:ext cx="7588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bfd3ee"/>
                </a:solidFill>
                <a:latin typeface="Calibri"/>
                <a:ea typeface="DejaVu Sans"/>
              </a:rPr>
              <a:t>github.com/elhamrouzban/LogiGuard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23" name="TextBox 8"/>
          <p:cNvSpPr/>
          <p:nvPr/>
        </p:nvSpPr>
        <p:spPr>
          <a:xfrm>
            <a:off x="8899920" y="1325880"/>
            <a:ext cx="2742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DejaVu Sans"/>
              </a:rPr>
              <a:t>65,752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624" name="TextBox 9"/>
          <p:cNvSpPr/>
          <p:nvPr/>
        </p:nvSpPr>
        <p:spPr>
          <a:xfrm>
            <a:off x="8899920" y="1965960"/>
            <a:ext cx="27424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bfd3ee"/>
                </a:solidFill>
                <a:latin typeface="Calibri"/>
                <a:ea typeface="DejaVu Sans"/>
              </a:rPr>
              <a:t>orders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25" name="TextBox 10"/>
          <p:cNvSpPr/>
          <p:nvPr/>
        </p:nvSpPr>
        <p:spPr>
          <a:xfrm>
            <a:off x="8899920" y="2560320"/>
            <a:ext cx="2742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DejaVu Sans"/>
              </a:rPr>
              <a:t>84%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626" name="TextBox 11"/>
          <p:cNvSpPr/>
          <p:nvPr/>
        </p:nvSpPr>
        <p:spPr>
          <a:xfrm>
            <a:off x="8899920" y="3200400"/>
            <a:ext cx="27424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bfd3ee"/>
                </a:solidFill>
                <a:latin typeface="Calibri"/>
                <a:ea typeface="DejaVu Sans"/>
              </a:rPr>
              <a:t>test recall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27" name="TextBox 12"/>
          <p:cNvSpPr/>
          <p:nvPr/>
        </p:nvSpPr>
        <p:spPr>
          <a:xfrm>
            <a:off x="8899920" y="3794760"/>
            <a:ext cx="2742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DejaVu Sans"/>
              </a:rPr>
              <a:t>5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628" name="TextBox 13"/>
          <p:cNvSpPr/>
          <p:nvPr/>
        </p:nvSpPr>
        <p:spPr>
          <a:xfrm>
            <a:off x="8899920" y="4434840"/>
            <a:ext cx="27424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bfd3ee"/>
                </a:solidFill>
                <a:latin typeface="Calibri"/>
                <a:ea typeface="DejaVu Sans"/>
              </a:rPr>
              <a:t>services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29" name="TextBox 14"/>
          <p:cNvSpPr/>
          <p:nvPr/>
        </p:nvSpPr>
        <p:spPr>
          <a:xfrm>
            <a:off x="8899920" y="5029200"/>
            <a:ext cx="2742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DejaVu Sans"/>
              </a:rPr>
              <a:t>33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630" name="TextBox 15"/>
          <p:cNvSpPr/>
          <p:nvPr/>
        </p:nvSpPr>
        <p:spPr>
          <a:xfrm>
            <a:off x="8899920" y="5669280"/>
            <a:ext cx="27424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bfd3ee"/>
                </a:solidFill>
                <a:latin typeface="Calibri"/>
                <a:ea typeface="DejaVu Sans"/>
              </a:rPr>
              <a:t>tests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PPTXPresentationEditor/1.2.0.0$MacOSX_AARCH64 LibreOffice_project/e114eadc50a9ff8d8c8a0567d6da8f454beeb84f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2026-10-16T11:12:19Z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